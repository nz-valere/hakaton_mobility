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outenance" id="{f7caf3c3-a728-98ed-a774-5b14fb5af78e}">
          <p14:sldIdLst>
            <p14:sldId id="256"/>
            <p14:sldId id="257"/>
            <p14:sldId id="258"/>
            <p14:sldId id="259"/>
            <p14:sldId id="260"/>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328"/>
                </a:solidFill>
                <a:latin typeface="+mn-lt"/>
              </a:defRPr>
            </a:pPr>
            <a:r>
              <a:rPr sz="1200" b="0" i="0" u="none" strike="noStrike">
                <a:solidFill>
                  <a:srgbClr val="1F2328"/>
                </a:solidFill>
                <a:latin typeface="+mn-lt"/>
              </a:rPr>
              <a:t>Adhérents potentiels pour 1 M€ Citiz, par intercommunalité</a:t>
            </a:r>
          </a:p>
        </c:rich>
      </c:tx>
      <c:layout/>
      <c:overlay val="0"/>
    </c:title>
    <c:autoTitleDeleted val="0"/>
    <c:plotArea>
      <c:layout/>
      <c:barChart>
        <c:barDir val="bar"/>
        <c:grouping val="clustered"/>
        <c:varyColors val="0"/>
        <c:ser>
          <c:idx val="0"/>
          <c:order val="0"/>
          <c:tx>
            <c:strRef>
              <c:f>Sheet1!$B$1</c:f>
              <c:strCache>
                <c:ptCount val="1"/>
                <c:pt idx="0">
                  <c:v>Potentiel du modèle seul</c:v>
                </c:pt>
              </c:strCache>
            </c:strRef>
          </c:tx>
          <c:spPr>
            <a:solidFill>
              <a:srgbClr val="C9D4EA"/>
            </a:solidFill>
            <a:effectLst/>
          </c:spPr>
          <c:invertIfNegative val="0"/>
          <c:dLbls>
            <c:numFmt formatCode="#,##0" sourceLinked="0"/>
            <c:txPr>
              <a:bodyPr/>
              <a:lstStyle/>
              <a:p>
                <a:pPr>
                  <a:defRPr b="1" i="0" strike="noStrike" sz="1100" u="none">
                    <a:solidFill>
                      <a:srgbClr val="1F2328"/>
                    </a:solidFill>
                    <a:latin typeface="+mn-lt"/>
                  </a:defRPr>
                </a:pPr>
              </a:p>
            </c:txPr>
            <c:showLegendKey val="0"/>
            <c:showVal val="0"/>
            <c:showCatName val="0"/>
            <c:showSerName val="0"/>
            <c:showPercent val="0"/>
            <c:showBubbleSize val="0"/>
            <c:showLeaderLines val="0"/>
          </c:dLbls>
          <c:cat>
            <c:multiLvlStrRef>
              <c:f>Sheet1!$A$2:$A$10</c:f>
              <c:multiLvlStrCache>
                <c:ptCount val="9"/>
                <c:lvl>
                  <c:pt idx="0">
                    <c:v>1. Lyon</c:v>
                  </c:pt>
                  <c:pt idx="1">
                    <c:v>2. Toulouse</c:v>
                  </c:pt>
                  <c:pt idx="2">
                    <c:v>3. Aix-Marseille</c:v>
                  </c:pt>
                  <c:pt idx="3">
                    <c:v>4. Lille</c:v>
                  </c:pt>
                  <c:pt idx="4">
                    <c:v>5. Nantes</c:v>
                  </c:pt>
                  <c:pt idx="5">
                    <c:v>6. Toulon</c:v>
                  </c:pt>
                  <c:pt idx="6">
                    <c:v>7. Clermont-Ferrand</c:v>
                  </c:pt>
                  <c:pt idx="7">
                    <c:v>8. Nice</c:v>
                  </c:pt>
                  <c:pt idx="8">
                    <c:v>13. Montpellier</c:v>
                  </c:pt>
                </c:lvl>
              </c:multiLvlStrCache>
            </c:multiLvlStrRef>
          </c:cat>
          <c:val>
            <c:numRef>
              <c:f>Sheet1!$B$2:$B$10</c:f>
              <c:numCache>
                <c:formatCode>General</c:formatCode>
                <c:ptCount val="9"/>
                <c:pt idx="0">
                  <c:v>3934</c:v>
                </c:pt>
                <c:pt idx="1">
                  <c:v>3436</c:v>
                </c:pt>
                <c:pt idx="2">
                  <c:v>3313</c:v>
                </c:pt>
                <c:pt idx="3">
                  <c:v>3027</c:v>
                </c:pt>
                <c:pt idx="4">
                  <c:v>2878</c:v>
                </c:pt>
                <c:pt idx="5">
                  <c:v>3658</c:v>
                </c:pt>
                <c:pt idx="6">
                  <c:v>3166</c:v>
                </c:pt>
                <c:pt idx="7">
                  <c:v>7542</c:v>
                </c:pt>
                <c:pt idx="8">
                  <c:v>4015</c:v>
                </c:pt>
              </c:numCache>
            </c:numRef>
          </c:val>
        </c:ser>
        <c:ser>
          <c:idx val="1"/>
          <c:order val="1"/>
          <c:tx>
            <c:strRef>
              <c:f>Sheet1!$C$1</c:f>
              <c:strCache>
                <c:ptCount val="1"/>
                <c:pt idx="0">
                  <c:v>Après risque terrain</c:v>
                </c:pt>
              </c:strCache>
            </c:strRef>
          </c:tx>
          <c:spPr>
            <a:solidFill>
              <a:srgbClr val="2B76D6"/>
            </a:solidFill>
            <a:effectLst/>
          </c:spPr>
          <c:invertIfNegative val="0"/>
          <c:dLbls>
            <c:numFmt formatCode="#,##0" sourceLinked="0"/>
            <c:txPr>
              <a:bodyPr/>
              <a:lstStyle/>
              <a:p>
                <a:pPr>
                  <a:defRPr b="1" i="0" strike="noStrike" sz="1100" u="none">
                    <a:solidFill>
                      <a:srgbClr val="1F2328"/>
                    </a:solidFill>
                    <a:latin typeface="+mn-lt"/>
                  </a:defRPr>
                </a:pPr>
              </a:p>
            </c:txPr>
            <c:showLegendKey val="0"/>
            <c:showVal val="0"/>
            <c:showCatName val="0"/>
            <c:showSerName val="0"/>
            <c:showPercent val="0"/>
            <c:showBubbleSize val="0"/>
            <c:showLeaderLines val="0"/>
          </c:dLbls>
          <c:cat>
            <c:multiLvlStrRef>
              <c:f>Sheet1!$A$2:$A$10</c:f>
              <c:multiLvlStrCache>
                <c:ptCount val="9"/>
                <c:lvl>
                  <c:pt idx="0">
                    <c:v>1. Lyon</c:v>
                  </c:pt>
                  <c:pt idx="1">
                    <c:v>2. Toulouse</c:v>
                  </c:pt>
                  <c:pt idx="2">
                    <c:v>3. Aix-Marseille</c:v>
                  </c:pt>
                  <c:pt idx="3">
                    <c:v>4. Lille</c:v>
                  </c:pt>
                  <c:pt idx="4">
                    <c:v>5. Nantes</c:v>
                  </c:pt>
                  <c:pt idx="5">
                    <c:v>6. Toulon</c:v>
                  </c:pt>
                  <c:pt idx="6">
                    <c:v>7. Clermont-Ferrand</c:v>
                  </c:pt>
                  <c:pt idx="7">
                    <c:v>8. Nice</c:v>
                  </c:pt>
                  <c:pt idx="8">
                    <c:v>13. Montpellier</c:v>
                  </c:pt>
                </c:lvl>
              </c:multiLvlStrCache>
            </c:multiLvlStrRef>
          </c:cat>
          <c:val>
            <c:numRef>
              <c:f>Sheet1!$C$2:$C$10</c:f>
              <c:numCache>
                <c:formatCode>General</c:formatCode>
                <c:ptCount val="9"/>
                <c:pt idx="0">
                  <c:v>3934</c:v>
                </c:pt>
                <c:pt idx="1">
                  <c:v>3780</c:v>
                </c:pt>
                <c:pt idx="2">
                  <c:v>3147</c:v>
                </c:pt>
                <c:pt idx="3">
                  <c:v>3027</c:v>
                </c:pt>
                <c:pt idx="4">
                  <c:v>2878</c:v>
                </c:pt>
                <c:pt idx="5">
                  <c:v>2744</c:v>
                </c:pt>
                <c:pt idx="6">
                  <c:v>2691</c:v>
                </c:pt>
                <c:pt idx="7">
                  <c:v>2640</c:v>
                </c:pt>
                <c:pt idx="8">
                  <c:v>2409</c:v>
                </c:pt>
              </c:numCache>
            </c:numRef>
          </c:val>
        </c:ser>
        <c:dLbls>
          <c:numFmt formatCode="#,##0" sourceLinked="0"/>
          <c:txPr>
            <a:bodyPr/>
            <a:lstStyle/>
            <a:p>
              <a:pPr>
                <a:defRPr b="1" i="0" strike="noStrike" sz="1100" u="none">
                  <a:solidFill>
                    <a:srgbClr val="1F2328"/>
                  </a:solidFill>
                  <a:latin typeface="+mn-lt"/>
                </a:defRPr>
              </a:pPr>
            </a:p>
          </c:txPr>
          <c:showLegendKey val="0"/>
          <c:showVal val="0"/>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E5E7EB"/>
            </a:solidFill>
            <a:prstDash val="solid"/>
            <a:round/>
          </a:ln>
        </c:spPr>
        <c:txPr>
          <a:bodyPr/>
          <a:lstStyle/>
          <a:p>
            <a:pPr>
              <a:defRPr sz="1000" b="0" i="0" u="none" strike="noStrike">
                <a:solidFill>
                  <a:srgbClr val="1F2328"/>
                </a:solidFill>
                <a:latin typeface="+mn-lt"/>
              </a:defRPr>
            </a:pPr>
            <a:endParaRPr lang="en-US"/>
          </a:p>
        </c:txPr>
        <c:crossAx val="2094734552"/>
        <c:crosses val="autoZero"/>
        <c:auto val="1"/>
        <c:lblAlgn val="ctr"/>
        <c:noMultiLvlLbl val="1"/>
      </c:catAx>
      <c:valAx>
        <c:axId val="2094734552"/>
        <c:scaling>
          <c:orientation val="minMax"/>
          <c:max val="8000"/>
          <c:min val="0"/>
        </c:scaling>
        <c:delete val="0"/>
        <c:axPos val="b"/>
        <c:majorGridlines>
          <c:spPr>
            <a:ln w="6350" cap="flat">
              <a:solidFill>
                <a:srgbClr val="E5E7EB"/>
              </a:solidFill>
              <a:prstDash val="solid"/>
              <a:round/>
            </a:ln>
          </c:spPr>
        </c:majorGridlines>
        <c:numFmt formatCode="# ##0" sourceLinked="0"/>
        <c:majorTickMark val="out"/>
        <c:minorTickMark val="none"/>
        <c:tickLblPos val="low"/>
        <c:spPr>
          <a:ln w="12700" cap="flat">
            <a:solidFill>
              <a:srgbClr val="888888"/>
            </a:solidFill>
            <a:prstDash val="solid"/>
            <a:round/>
          </a:ln>
        </c:spPr>
        <c:txPr>
          <a:bodyPr/>
          <a:lstStyle/>
          <a:p>
            <a:pPr>
              <a:defRPr sz="900" b="0" i="0" u="none" strike="noStrike">
                <a:solidFill>
                  <a:srgbClr val="6B7280"/>
                </a:solidFill>
                <a:latin typeface="+mn-lt"/>
              </a:defRPr>
            </a:pPr>
            <a:endParaRPr lang="en-US"/>
          </a:p>
        </c:txPr>
        <c:crossAx val="2094734554"/>
        <c:crosses val="autoZero"/>
        <c:crossBetween val="between"/>
        <c:majorUnit val="2000"/>
      </c:valAx>
      <c:spPr>
        <a:noFill/>
        <a:ln>
          <a:noFill/>
        </a:ln>
        <a:effectLst/>
      </c:spPr>
    </c:plotArea>
    <c:legend>
      <c:legendPos val="b"/>
      <c:overlay val="0"/>
      <c:txPr>
        <a:bodyPr/>
        <a:lstStyle/>
        <a:p>
          <a:pPr>
            <a:defRPr sz="1100">
              <a:solidFill>
                <a:srgbClr val="1F2328"/>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1 · quelques secondes
Bonjour, nous sommes l'équipe Mobili'Score. (Passer directement à la slide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1 · 40 s
Citiz doit choisir où ouvrir ses prochaines stations d'autopartage. Une station mal placée immobilise une voiture qui ne trouve pas ses usagers ; bien placée, elle remplace plusieurs voitures personnelles.
Or aujourd'hui, un habitant sur trois n'a aucune option de transport à cinq minutes à pied de chez lui, et seuls 3,5 % ont une station Citiz à proximité. Cette carte est notre premier livrable : chaque carreau est coloré selon le nombre d'options accessibles à pied.
Le besoin est donc clair : une liste de sites priorisée, chiffrée, sous budget, qui tient compte de ce qui existe déjà.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2 · 30 s
Pourquoi Lyon ? Ce choix est le premier résultat de notre outil. Nous avons comparé les 99 intercommunalités de plus de 100 000 habitants, chacune avec le même budget d'un million d'euros.
Le modèle seul désignait Nice, mais l'autopartage y a déjà échoué deux fois. En intégrant ce risque terrain, Nice recule au huitième rang et la Métropole de Lyon passe en tête : près de 4 000 adhérents potentiels, Citiz y est déjà implanté, et la Métropole prévoit de développer l'autopartage d'ici 2030.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3 · 40 s
Notre outil fonctionne en quatre étapes. D'abord, on mesure l'accès réel : la vraie distance à pied et la vraie fréquence des lignes, pas un simple comptage d'arrêts. Ensuite, on montre qui est concerné : chaque arrêt et chaque station affiche les habitants qu'il dessert.
Troisième étape, un modèle apprend où Citiz réussit déjà ; il fait deux fois mieux que la seule densité de population. Enfin, un optimiseur choisit les sites qui touchent le plus d'habitants non desservis, pour un budget donné.
Et nous l'avons vérifié sur le terrain : les stations que le modèle note le mieux sont réellement plus utilisées, 41 % du temps contre 28 %.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4 · 40 s
Résultat pour Lyon : 16 stations, 7 à Villeurbanne, 7 à Lyon, une à Irigny et une à Vernaison. Pour 960 000 euros sur cinq ans, 50 051 habitants se retrouvent à cinq minutes d'une voiture partagée : 19 euros par habitant, et 121 tonnes de CO2 évitées par an. 41 % de ces habitants font partie des 30 % les plus modestes.
Concrètement, Citiz peut ouvrir ces stations en pilote, renforcer d'abord ses 303 stations saturées, et relancer l'analyse sur n'importe quel autre territoire.
Mais le plus parlant, c'est de le voir : place à la démo.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ORATEUR 5 · 2 min 30 (application ouverte à l'avance, Lyon sélectionné)
1) CARTE · 40 s [onglet « Carte d'accessibilité »]
Voici la Métropole de Lyon, carreau par carreau. Si l'on compte simplement les arrêts, presque tout le monde semble desservi. [Cliquer sur « fréquence des lignes »] Avec la vraie fréquence, 71 500 habitants apparaissent : ils ont un arrêt, mais un bus trop rare.
2) OÙ S'IMPLANTER · 30 s [onglet « Où s'implanter (France) »]
Voici le classement national dont on vient de parler : Lyon en tête, Nice reculée à cause de son risque terrain.
3) OÙ INVESTIR · 1 min 10 [onglet « Où investir »]
Voici les 16 stations recommandées, avec pour chacune son coût, les habitants gagnés et le CO2 évité. [Baisser le budget Citiz] Si Citiz n'a que la moitié du budget, la liste se recalcule en une seconde. [Monter le curseur λ] Et si la collectivité veut privilégier les ménages modestes, on règle ce curseur : on voit tout de suite ce que l'équité coûte, ici presque rien. [Montrer l'export CSV] La liste s'exporte directement pour les équipes de Citiz.
CONCLUSION · 10 s
Mobili'Score transforme l'open data en décision : où ouvrir, pour quel budget, et pour qui. Merci, nous sommes prêts pour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_SOMBRE">
    <p:bg>
      <p:bgPr>
        <a:solidFill>
          <a:srgbClr val="14213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822960"/>
            <a:ext cx="4754880" cy="320040"/>
          </a:xfrm>
          <a:prstGeom prst="rect">
            <a:avLst/>
          </a:prstGeom>
          <a:noFill/>
          <a:ln/>
        </p:spPr>
        <p:txBody>
          <a:bodyPr wrap="square" rtlCol="0"/>
          <a:lstStyle>
            <a:lvl1pPr indent="0" marL="0">
              <a:buNone/>
              <a:defRPr lang="en-US" sz="1200" b="1" spc="200" kern="0" dirty="0">
                <a:solidFill>
                  <a:schemeClr val="accent4"/>
                </a:solidFill>
              </a:defRPr>
            </a:lvl1pPr>
          </a:lstStyle>
          <a:p>
            <a:pPr indent="0" marL="0">
              <a:buNone/>
            </a:pPr>
            <a:endParaRPr lang="en-US" sz="1200" dirty="0"/>
          </a:p>
        </p:txBody>
      </p:sp>
      <p:sp>
        <p:nvSpPr>
          <p:cNvPr id="3" name="Text 0"/>
          <p:cNvSpPr/>
          <p:nvPr>
            <p:ph idx="101" type="title" hasCustomPrompt="1"/>
          </p:nvPr>
        </p:nvSpPr>
        <p:spPr>
          <a:xfrm>
            <a:off x="548640" y="1188720"/>
            <a:ext cx="4754880" cy="100584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4" name="Text 0"/>
          <p:cNvSpPr/>
          <p:nvPr>
            <p:ph idx="102" type="body" hasCustomPrompt="1"/>
          </p:nvPr>
        </p:nvSpPr>
        <p:spPr>
          <a:xfrm>
            <a:off x="548640" y="2240280"/>
            <a:ext cx="4572000" cy="118872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solidFill>
          <a:srgbClr val="FBFAF8"/>
        </a:solidFill>
      </p:bgPr>
    </p:bg>
    <p:spTree>
      <p:nvGrpSpPr>
        <p:cNvPr id="1" name=""/>
        <p:cNvGrpSpPr/>
        <p:nvPr/>
      </p:nvGrpSpPr>
      <p:grpSpPr>
        <a:xfrm>
          <a:off x="0" y="0"/>
          <a:ext cx="0" cy="0"/>
          <a:chOff x="0" y="0"/>
          <a:chExt cx="0" cy="0"/>
        </a:xfrm>
      </p:grpSpPr>
      <p:sp>
        <p:nvSpPr>
          <p:cNvPr id="2" name="Shape 0"/>
          <p:cNvSpPr/>
          <p:nvPr/>
        </p:nvSpPr>
        <p:spPr>
          <a:xfrm>
            <a:off x="457200" y="338328"/>
            <a:ext cx="100584" cy="100584"/>
          </a:xfrm>
          <a:prstGeom prst="rect">
            <a:avLst/>
          </a:prstGeom>
          <a:solidFill>
            <a:schemeClr val="accent2"/>
          </a:solidFill>
          <a:ln/>
        </p:spPr>
      </p:sp>
      <p:sp>
        <p:nvSpPr>
          <p:cNvPr id="3" name="Text 1"/>
          <p:cNvSpPr/>
          <p:nvPr>
            <p:ph idx="101" type="body" hasCustomPrompt="1"/>
          </p:nvPr>
        </p:nvSpPr>
        <p:spPr>
          <a:xfrm>
            <a:off x="640080" y="256032"/>
            <a:ext cx="7772400" cy="274320"/>
          </a:xfrm>
          <a:prstGeom prst="rect">
            <a:avLst/>
          </a:prstGeom>
          <a:noFill/>
          <a:ln/>
        </p:spPr>
        <p:txBody>
          <a:bodyPr wrap="square" rtlCol="0"/>
          <a:lstStyle>
            <a:lvl1pPr indent="0" marL="0">
              <a:buNone/>
              <a:defRPr lang="en-US" sz="1100" b="1" spc="150" kern="0" dirty="0">
                <a:solidFill>
                  <a:schemeClr val="accent1"/>
                </a:solidFill>
              </a:defRPr>
            </a:lvl1pPr>
          </a:lstStyle>
          <a:p>
            <a:pPr indent="0" marL="0">
              <a:buNone/>
            </a:pPr>
            <a:endParaRPr lang="en-US" sz="1100" dirty="0"/>
          </a:p>
        </p:txBody>
      </p:sp>
      <p:sp>
        <p:nvSpPr>
          <p:cNvPr id="4" name="Text 1"/>
          <p:cNvSpPr/>
          <p:nvPr>
            <p:ph idx="102" type="title" hasCustomPrompt="1"/>
          </p:nvPr>
        </p:nvSpPr>
        <p:spPr>
          <a:xfrm>
            <a:off x="457200" y="566928"/>
            <a:ext cx="8229600" cy="68580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IN_SOMBRE">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457200" y="338328"/>
            <a:ext cx="100584" cy="100584"/>
          </a:xfrm>
          <a:prstGeom prst="rect">
            <a:avLst/>
          </a:prstGeom>
          <a:solidFill>
            <a:schemeClr val="accent2"/>
          </a:solidFill>
          <a:ln/>
        </p:spPr>
      </p:sp>
      <p:sp>
        <p:nvSpPr>
          <p:cNvPr id="3" name="Text 1"/>
          <p:cNvSpPr/>
          <p:nvPr>
            <p:ph idx="101" type="body" hasCustomPrompt="1"/>
          </p:nvPr>
        </p:nvSpPr>
        <p:spPr>
          <a:xfrm>
            <a:off x="640080" y="256032"/>
            <a:ext cx="7772400" cy="274320"/>
          </a:xfrm>
          <a:prstGeom prst="rect">
            <a:avLst/>
          </a:prstGeom>
          <a:noFill/>
          <a:ln/>
        </p:spPr>
        <p:txBody>
          <a:bodyPr wrap="square" rtlCol="0"/>
          <a:lstStyle>
            <a:lvl1pPr indent="0" marL="0">
              <a:buNone/>
              <a:defRPr lang="en-US" sz="1100" b="1" spc="150" kern="0" dirty="0">
                <a:solidFill>
                  <a:schemeClr val="accent4"/>
                </a:solidFill>
              </a:defRPr>
            </a:lvl1pPr>
          </a:lstStyle>
          <a:p>
            <a:pPr indent="0" marL="0">
              <a:buNone/>
            </a:pPr>
            <a:endParaRPr lang="en-US" sz="1100" dirty="0"/>
          </a:p>
        </p:txBody>
      </p:sp>
      <p:sp>
        <p:nvSpPr>
          <p:cNvPr id="4" name="Text 1"/>
          <p:cNvSpPr/>
          <p:nvPr>
            <p:ph idx="102" type="title" hasCustomPrompt="1"/>
          </p:nvPr>
        </p:nvSpPr>
        <p:spPr>
          <a:xfrm>
            <a:off x="457200" y="566928"/>
            <a:ext cx="8229600" cy="685800"/>
          </a:xfrm>
          <a:prstGeom prst="rect">
            <a:avLst/>
          </a:prstGeom>
          <a:noFill/>
          <a:ln/>
        </p:spPr>
        <p:txBody>
          <a:bodyPr wrap="square" rtlCol="0"/>
          <a:lstStyle>
            <a:lvl1pPr algn="l" indent="0" marL="0">
              <a:buNone/>
              <a:defRPr lang="en-US" sz="2600" b="1" dirty="0">
                <a:solidFill>
                  <a:schemeClr val="bg1"/>
                </a:solidFill>
              </a:defRPr>
            </a:lvl1pPr>
          </a:lstStyle>
          <a:p>
            <a:pPr algn="l" indent="0" marL="0">
              <a:buNone/>
            </a:pPr>
            <a:endParaRPr lang="en-US" sz="2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822960"/>
            <a:ext cx="4754880" cy="320040"/>
          </a:xfrm>
          <a:prstGeom prst="rect">
            <a:avLst/>
          </a:prstGeom>
          <a:noFill/>
          <a:ln/>
        </p:spPr>
        <p:txBody>
          <a:bodyPr wrap="square" lIns="0" tIns="0" rIns="0" bIns="0" rtlCol="0"/>
          <a:lstStyle/>
          <a:p>
            <a:pPr indent="0" marL="0">
              <a:buNone/>
            </a:pPr>
            <a:r>
              <a:rPr lang="en-US" sz="1200" b="1" spc="200" kern="0" dirty="0">
                <a:solidFill>
                  <a:schemeClr val="accent4"/>
                </a:solidFill>
              </a:rPr>
              <a:t>HACKATHON MOBILITY · EPITECH × CITIZ × MICROSOFT</a:t>
            </a:r>
            <a:endParaRPr lang="en-US" sz="1200" dirty="0"/>
          </a:p>
        </p:txBody>
      </p:sp>
      <p:sp>
        <p:nvSpPr>
          <p:cNvPr id="3" name="Text 0"/>
          <p:cNvSpPr/>
          <p:nvPr>
            <p:ph idx="101" type="title" hasCustomPrompt="1"/>
          </p:nvPr>
        </p:nvSpPr>
        <p:spPr>
          <a:xfrm>
            <a:off x="548640" y="1188720"/>
            <a:ext cx="4754880" cy="1005840"/>
          </a:xfrm>
          <a:prstGeom prst="rect">
            <a:avLst/>
          </a:prstGeom>
          <a:noFill/>
          <a:ln/>
        </p:spPr>
        <p:txBody>
          <a:bodyPr wrap="square" lIns="0" tIns="0" rIns="0" bIns="0" rtlCol="0" anchor="t"/>
          <a:lstStyle/>
          <a:p>
            <a:pPr algn="l" indent="0" marL="0">
              <a:buNone/>
            </a:pPr>
            <a:r>
              <a:rPr lang="en-US" sz="4800" b="1" dirty="0">
                <a:solidFill>
                  <a:schemeClr val="bg1"/>
                </a:solidFill>
              </a:rPr>
              <a:t>Mobili'Score</a:t>
            </a:r>
            <a:endParaRPr lang="en-US" sz="4800" dirty="0"/>
          </a:p>
        </p:txBody>
      </p:sp>
      <p:sp>
        <p:nvSpPr>
          <p:cNvPr id="4" name="Text 0"/>
          <p:cNvSpPr/>
          <p:nvPr>
            <p:ph idx="102" type="body" hasCustomPrompt="1"/>
          </p:nvPr>
        </p:nvSpPr>
        <p:spPr>
          <a:xfrm>
            <a:off x="548640" y="2240280"/>
            <a:ext cx="4572000" cy="1188720"/>
          </a:xfrm>
          <a:prstGeom prst="rect">
            <a:avLst/>
          </a:prstGeom>
          <a:noFill/>
          <a:ln/>
        </p:spPr>
        <p:txBody>
          <a:bodyPr wrap="square" lIns="0" tIns="0" rIns="0" bIns="0" rtlCol="0" anchor="t"/>
          <a:lstStyle/>
          <a:p>
            <a:pPr indent="0" marL="0">
              <a:buNone/>
            </a:pPr>
            <a:r>
              <a:rPr lang="en-US" sz="1800" dirty="0">
                <a:solidFill>
                  <a:schemeClr val="bg1"/>
                </a:solidFill>
              </a:rPr>
              <a:t>Où ouvrir les prochaines stations d'autopartage Citiz ?</a:t>
            </a:r>
            <a:endParaRPr lang="en-US" sz="1800" dirty="0"/>
          </a:p>
        </p:txBody>
      </p:sp>
      <p:sp>
        <p:nvSpPr>
          <p:cNvPr id="5" name="Carreau"/>
          <p:cNvSpPr/>
          <p:nvPr/>
        </p:nvSpPr>
        <p:spPr>
          <a:xfrm>
            <a:off x="5577840" y="914400"/>
            <a:ext cx="384048" cy="384048"/>
          </a:xfrm>
          <a:prstGeom prst="rect">
            <a:avLst/>
          </a:prstGeom>
          <a:solidFill>
            <a:schemeClr val="accent1"/>
          </a:solidFill>
          <a:ln/>
        </p:spPr>
      </p:sp>
      <p:sp>
        <p:nvSpPr>
          <p:cNvPr id="6" name="Carreau"/>
          <p:cNvSpPr/>
          <p:nvPr/>
        </p:nvSpPr>
        <p:spPr>
          <a:xfrm>
            <a:off x="6035040" y="914400"/>
            <a:ext cx="384048" cy="384048"/>
          </a:xfrm>
          <a:prstGeom prst="rect">
            <a:avLst/>
          </a:prstGeom>
          <a:solidFill>
            <a:schemeClr val="accent1">
              <a:alpha val="90000"/>
            </a:schemeClr>
          </a:solidFill>
          <a:ln/>
        </p:spPr>
      </p:sp>
      <p:sp>
        <p:nvSpPr>
          <p:cNvPr id="7" name="Carreau"/>
          <p:cNvSpPr/>
          <p:nvPr/>
        </p:nvSpPr>
        <p:spPr>
          <a:xfrm>
            <a:off x="6492240" y="914400"/>
            <a:ext cx="384048" cy="384048"/>
          </a:xfrm>
          <a:prstGeom prst="rect">
            <a:avLst/>
          </a:prstGeom>
          <a:solidFill>
            <a:schemeClr val="accent2"/>
          </a:solidFill>
          <a:ln/>
        </p:spPr>
      </p:sp>
      <p:sp>
        <p:nvSpPr>
          <p:cNvPr id="8" name="Carreau"/>
          <p:cNvSpPr/>
          <p:nvPr/>
        </p:nvSpPr>
        <p:spPr>
          <a:xfrm>
            <a:off x="6949440" y="914400"/>
            <a:ext cx="384048" cy="384048"/>
          </a:xfrm>
          <a:prstGeom prst="rect">
            <a:avLst/>
          </a:prstGeom>
          <a:solidFill>
            <a:schemeClr val="accent1">
              <a:alpha val="55000"/>
            </a:schemeClr>
          </a:solidFill>
          <a:ln/>
        </p:spPr>
      </p:sp>
      <p:sp>
        <p:nvSpPr>
          <p:cNvPr id="9" name="Carreau"/>
          <p:cNvSpPr/>
          <p:nvPr/>
        </p:nvSpPr>
        <p:spPr>
          <a:xfrm>
            <a:off x="7406640" y="914400"/>
            <a:ext cx="384048" cy="384048"/>
          </a:xfrm>
          <a:prstGeom prst="rect">
            <a:avLst/>
          </a:prstGeom>
          <a:solidFill>
            <a:schemeClr val="accent1">
              <a:alpha val="45000"/>
            </a:schemeClr>
          </a:solidFill>
          <a:ln/>
        </p:spPr>
      </p:sp>
      <p:sp>
        <p:nvSpPr>
          <p:cNvPr id="10" name="Carreau"/>
          <p:cNvSpPr/>
          <p:nvPr/>
        </p:nvSpPr>
        <p:spPr>
          <a:xfrm>
            <a:off x="7863840" y="914400"/>
            <a:ext cx="384048" cy="384048"/>
          </a:xfrm>
          <a:prstGeom prst="rect">
            <a:avLst/>
          </a:prstGeom>
          <a:solidFill>
            <a:schemeClr val="accent2"/>
          </a:solidFill>
          <a:ln/>
        </p:spPr>
      </p:sp>
      <p:sp>
        <p:nvSpPr>
          <p:cNvPr id="11" name="Carreau"/>
          <p:cNvSpPr/>
          <p:nvPr/>
        </p:nvSpPr>
        <p:spPr>
          <a:xfrm>
            <a:off x="8321040" y="914400"/>
            <a:ext cx="384048" cy="384048"/>
          </a:xfrm>
          <a:prstGeom prst="rect">
            <a:avLst/>
          </a:prstGeom>
          <a:solidFill>
            <a:schemeClr val="accent1">
              <a:alpha val="65000"/>
            </a:schemeClr>
          </a:solidFill>
          <a:ln/>
        </p:spPr>
      </p:sp>
      <p:sp>
        <p:nvSpPr>
          <p:cNvPr id="12" name="Carreau"/>
          <p:cNvSpPr/>
          <p:nvPr/>
        </p:nvSpPr>
        <p:spPr>
          <a:xfrm>
            <a:off x="5577840" y="1371600"/>
            <a:ext cx="384048" cy="384048"/>
          </a:xfrm>
          <a:prstGeom prst="rect">
            <a:avLst/>
          </a:prstGeom>
          <a:solidFill>
            <a:schemeClr val="accent1"/>
          </a:solidFill>
          <a:ln/>
        </p:spPr>
      </p:sp>
      <p:sp>
        <p:nvSpPr>
          <p:cNvPr id="13" name="Carreau"/>
          <p:cNvSpPr/>
          <p:nvPr/>
        </p:nvSpPr>
        <p:spPr>
          <a:xfrm>
            <a:off x="6035040" y="1371600"/>
            <a:ext cx="384048" cy="384048"/>
          </a:xfrm>
          <a:prstGeom prst="rect">
            <a:avLst/>
          </a:prstGeom>
          <a:solidFill>
            <a:schemeClr val="accent1">
              <a:alpha val="90000"/>
            </a:schemeClr>
          </a:solidFill>
          <a:ln/>
        </p:spPr>
      </p:sp>
      <p:sp>
        <p:nvSpPr>
          <p:cNvPr id="14" name="Carreau"/>
          <p:cNvSpPr/>
          <p:nvPr/>
        </p:nvSpPr>
        <p:spPr>
          <a:xfrm>
            <a:off x="6492240" y="1371600"/>
            <a:ext cx="384048" cy="384048"/>
          </a:xfrm>
          <a:prstGeom prst="rect">
            <a:avLst/>
          </a:prstGeom>
          <a:solidFill>
            <a:schemeClr val="accent2"/>
          </a:solidFill>
          <a:ln/>
        </p:spPr>
      </p:sp>
      <p:sp>
        <p:nvSpPr>
          <p:cNvPr id="15" name="Carreau"/>
          <p:cNvSpPr/>
          <p:nvPr/>
        </p:nvSpPr>
        <p:spPr>
          <a:xfrm>
            <a:off x="6949440" y="1371600"/>
            <a:ext cx="384048" cy="384048"/>
          </a:xfrm>
          <a:prstGeom prst="rect">
            <a:avLst/>
          </a:prstGeom>
          <a:solidFill>
            <a:schemeClr val="accent1">
              <a:alpha val="55000"/>
            </a:schemeClr>
          </a:solidFill>
          <a:ln/>
        </p:spPr>
      </p:sp>
      <p:sp>
        <p:nvSpPr>
          <p:cNvPr id="16" name="Carreau"/>
          <p:cNvSpPr/>
          <p:nvPr/>
        </p:nvSpPr>
        <p:spPr>
          <a:xfrm>
            <a:off x="7406640" y="1371600"/>
            <a:ext cx="384048" cy="384048"/>
          </a:xfrm>
          <a:prstGeom prst="rect">
            <a:avLst/>
          </a:prstGeom>
          <a:solidFill>
            <a:schemeClr val="accent1">
              <a:alpha val="45000"/>
            </a:schemeClr>
          </a:solidFill>
          <a:ln/>
        </p:spPr>
      </p:sp>
      <p:sp>
        <p:nvSpPr>
          <p:cNvPr id="17" name="Carreau"/>
          <p:cNvSpPr/>
          <p:nvPr/>
        </p:nvSpPr>
        <p:spPr>
          <a:xfrm>
            <a:off x="7863840" y="1371600"/>
            <a:ext cx="384048" cy="384048"/>
          </a:xfrm>
          <a:prstGeom prst="rect">
            <a:avLst/>
          </a:prstGeom>
          <a:solidFill>
            <a:schemeClr val="accent1">
              <a:alpha val="75000"/>
            </a:schemeClr>
          </a:solidFill>
          <a:ln/>
        </p:spPr>
      </p:sp>
      <p:sp>
        <p:nvSpPr>
          <p:cNvPr id="18" name="Carreau"/>
          <p:cNvSpPr/>
          <p:nvPr/>
        </p:nvSpPr>
        <p:spPr>
          <a:xfrm>
            <a:off x="8321040" y="1371600"/>
            <a:ext cx="384048" cy="384048"/>
          </a:xfrm>
          <a:prstGeom prst="rect">
            <a:avLst/>
          </a:prstGeom>
          <a:solidFill>
            <a:schemeClr val="accent2"/>
          </a:solidFill>
          <a:ln/>
        </p:spPr>
      </p:sp>
      <p:sp>
        <p:nvSpPr>
          <p:cNvPr id="19" name="Carreau"/>
          <p:cNvSpPr/>
          <p:nvPr/>
        </p:nvSpPr>
        <p:spPr>
          <a:xfrm>
            <a:off x="5577840" y="1828800"/>
            <a:ext cx="384048" cy="384048"/>
          </a:xfrm>
          <a:prstGeom prst="rect">
            <a:avLst/>
          </a:prstGeom>
          <a:solidFill>
            <a:schemeClr val="accent1"/>
          </a:solidFill>
          <a:ln/>
        </p:spPr>
      </p:sp>
      <p:sp>
        <p:nvSpPr>
          <p:cNvPr id="20" name="Carreau"/>
          <p:cNvSpPr/>
          <p:nvPr/>
        </p:nvSpPr>
        <p:spPr>
          <a:xfrm>
            <a:off x="6035040" y="1828800"/>
            <a:ext cx="384048" cy="384048"/>
          </a:xfrm>
          <a:prstGeom prst="rect">
            <a:avLst/>
          </a:prstGeom>
          <a:solidFill>
            <a:schemeClr val="accent1">
              <a:alpha val="90000"/>
            </a:schemeClr>
          </a:solidFill>
          <a:ln/>
        </p:spPr>
      </p:sp>
      <p:sp>
        <p:nvSpPr>
          <p:cNvPr id="21" name="Carreau"/>
          <p:cNvSpPr/>
          <p:nvPr/>
        </p:nvSpPr>
        <p:spPr>
          <a:xfrm>
            <a:off x="6492240" y="1828800"/>
            <a:ext cx="384048" cy="384048"/>
          </a:xfrm>
          <a:prstGeom prst="rect">
            <a:avLst/>
          </a:prstGeom>
          <a:solidFill>
            <a:schemeClr val="accent2"/>
          </a:solidFill>
          <a:ln/>
        </p:spPr>
      </p:sp>
      <p:sp>
        <p:nvSpPr>
          <p:cNvPr id="22" name="Carreau"/>
          <p:cNvSpPr/>
          <p:nvPr/>
        </p:nvSpPr>
        <p:spPr>
          <a:xfrm>
            <a:off x="6949440" y="1828800"/>
            <a:ext cx="384048" cy="384048"/>
          </a:xfrm>
          <a:prstGeom prst="rect">
            <a:avLst/>
          </a:prstGeom>
          <a:solidFill>
            <a:schemeClr val="accent1">
              <a:alpha val="55000"/>
            </a:schemeClr>
          </a:solidFill>
          <a:ln/>
        </p:spPr>
      </p:sp>
      <p:sp>
        <p:nvSpPr>
          <p:cNvPr id="23" name="Carreau"/>
          <p:cNvSpPr/>
          <p:nvPr/>
        </p:nvSpPr>
        <p:spPr>
          <a:xfrm>
            <a:off x="7406640" y="1828800"/>
            <a:ext cx="384048" cy="384048"/>
          </a:xfrm>
          <a:prstGeom prst="rect">
            <a:avLst/>
          </a:prstGeom>
          <a:solidFill>
            <a:schemeClr val="accent1">
              <a:alpha val="45000"/>
            </a:schemeClr>
          </a:solidFill>
          <a:ln/>
        </p:spPr>
      </p:sp>
      <p:sp>
        <p:nvSpPr>
          <p:cNvPr id="24" name="Carreau"/>
          <p:cNvSpPr/>
          <p:nvPr/>
        </p:nvSpPr>
        <p:spPr>
          <a:xfrm>
            <a:off x="7863840" y="1828800"/>
            <a:ext cx="384048" cy="384048"/>
          </a:xfrm>
          <a:prstGeom prst="rect">
            <a:avLst/>
          </a:prstGeom>
          <a:solidFill>
            <a:schemeClr val="accent1">
              <a:alpha val="75000"/>
            </a:schemeClr>
          </a:solidFill>
          <a:ln/>
        </p:spPr>
      </p:sp>
      <p:sp>
        <p:nvSpPr>
          <p:cNvPr id="25" name="Carreau"/>
          <p:cNvSpPr/>
          <p:nvPr/>
        </p:nvSpPr>
        <p:spPr>
          <a:xfrm>
            <a:off x="8321040" y="1828800"/>
            <a:ext cx="384048" cy="384048"/>
          </a:xfrm>
          <a:prstGeom prst="rect">
            <a:avLst/>
          </a:prstGeom>
          <a:solidFill>
            <a:schemeClr val="accent2"/>
          </a:solidFill>
          <a:ln/>
        </p:spPr>
      </p:sp>
      <p:sp>
        <p:nvSpPr>
          <p:cNvPr id="26" name="Carreau"/>
          <p:cNvSpPr/>
          <p:nvPr/>
        </p:nvSpPr>
        <p:spPr>
          <a:xfrm>
            <a:off x="5577840" y="2286000"/>
            <a:ext cx="384048" cy="384048"/>
          </a:xfrm>
          <a:prstGeom prst="rect">
            <a:avLst/>
          </a:prstGeom>
          <a:solidFill>
            <a:schemeClr val="accent2"/>
          </a:solidFill>
          <a:ln/>
        </p:spPr>
      </p:sp>
      <p:sp>
        <p:nvSpPr>
          <p:cNvPr id="27" name="Carreau"/>
          <p:cNvSpPr/>
          <p:nvPr/>
        </p:nvSpPr>
        <p:spPr>
          <a:xfrm>
            <a:off x="6035040" y="2286000"/>
            <a:ext cx="384048" cy="384048"/>
          </a:xfrm>
          <a:prstGeom prst="rect">
            <a:avLst/>
          </a:prstGeom>
          <a:solidFill>
            <a:schemeClr val="accent1">
              <a:alpha val="90000"/>
            </a:schemeClr>
          </a:solidFill>
          <a:ln/>
        </p:spPr>
      </p:sp>
      <p:sp>
        <p:nvSpPr>
          <p:cNvPr id="28" name="Carreau"/>
          <p:cNvSpPr/>
          <p:nvPr/>
        </p:nvSpPr>
        <p:spPr>
          <a:xfrm>
            <a:off x="6492240" y="2286000"/>
            <a:ext cx="384048" cy="384048"/>
          </a:xfrm>
          <a:prstGeom prst="rect">
            <a:avLst/>
          </a:prstGeom>
          <a:solidFill>
            <a:schemeClr val="accent1">
              <a:alpha val="80000"/>
            </a:schemeClr>
          </a:solidFill>
          <a:ln/>
        </p:spPr>
      </p:sp>
      <p:sp>
        <p:nvSpPr>
          <p:cNvPr id="29" name="Carreau"/>
          <p:cNvSpPr/>
          <p:nvPr/>
        </p:nvSpPr>
        <p:spPr>
          <a:xfrm>
            <a:off x="6949440" y="2286000"/>
            <a:ext cx="384048" cy="384048"/>
          </a:xfrm>
          <a:prstGeom prst="rect">
            <a:avLst/>
          </a:prstGeom>
          <a:solidFill>
            <a:schemeClr val="accent1">
              <a:alpha val="55000"/>
            </a:schemeClr>
          </a:solidFill>
          <a:ln/>
        </p:spPr>
      </p:sp>
      <p:sp>
        <p:nvSpPr>
          <p:cNvPr id="30" name="Carreau"/>
          <p:cNvSpPr/>
          <p:nvPr/>
        </p:nvSpPr>
        <p:spPr>
          <a:xfrm>
            <a:off x="7406640" y="2286000"/>
            <a:ext cx="384048" cy="384048"/>
          </a:xfrm>
          <a:prstGeom prst="rect">
            <a:avLst/>
          </a:prstGeom>
          <a:solidFill>
            <a:schemeClr val="accent1">
              <a:alpha val="45000"/>
            </a:schemeClr>
          </a:solidFill>
          <a:ln/>
        </p:spPr>
      </p:sp>
      <p:sp>
        <p:nvSpPr>
          <p:cNvPr id="31" name="Carreau"/>
          <p:cNvSpPr/>
          <p:nvPr/>
        </p:nvSpPr>
        <p:spPr>
          <a:xfrm>
            <a:off x="7863840" y="2286000"/>
            <a:ext cx="384048" cy="384048"/>
          </a:xfrm>
          <a:prstGeom prst="rect">
            <a:avLst/>
          </a:prstGeom>
          <a:solidFill>
            <a:schemeClr val="accent2"/>
          </a:solidFill>
          <a:ln/>
        </p:spPr>
      </p:sp>
      <p:sp>
        <p:nvSpPr>
          <p:cNvPr id="32" name="Carreau"/>
          <p:cNvSpPr/>
          <p:nvPr/>
        </p:nvSpPr>
        <p:spPr>
          <a:xfrm>
            <a:off x="8321040" y="2286000"/>
            <a:ext cx="384048" cy="384048"/>
          </a:xfrm>
          <a:prstGeom prst="rect">
            <a:avLst/>
          </a:prstGeom>
          <a:solidFill>
            <a:schemeClr val="accent1">
              <a:alpha val="65000"/>
            </a:schemeClr>
          </a:solidFill>
          <a:ln/>
        </p:spPr>
      </p:sp>
      <p:sp>
        <p:nvSpPr>
          <p:cNvPr id="33" name="Carreau"/>
          <p:cNvSpPr/>
          <p:nvPr/>
        </p:nvSpPr>
        <p:spPr>
          <a:xfrm>
            <a:off x="5577840" y="2743200"/>
            <a:ext cx="384048" cy="384048"/>
          </a:xfrm>
          <a:prstGeom prst="rect">
            <a:avLst/>
          </a:prstGeom>
          <a:solidFill>
            <a:schemeClr val="accent1"/>
          </a:solidFill>
          <a:ln/>
        </p:spPr>
      </p:sp>
      <p:sp>
        <p:nvSpPr>
          <p:cNvPr id="34" name="Carreau"/>
          <p:cNvSpPr/>
          <p:nvPr/>
        </p:nvSpPr>
        <p:spPr>
          <a:xfrm>
            <a:off x="6035040" y="2743200"/>
            <a:ext cx="384048" cy="384048"/>
          </a:xfrm>
          <a:prstGeom prst="rect">
            <a:avLst/>
          </a:prstGeom>
          <a:solidFill>
            <a:schemeClr val="accent2"/>
          </a:solidFill>
          <a:ln/>
        </p:spPr>
      </p:sp>
      <p:sp>
        <p:nvSpPr>
          <p:cNvPr id="35" name="Carreau"/>
          <p:cNvSpPr/>
          <p:nvPr/>
        </p:nvSpPr>
        <p:spPr>
          <a:xfrm>
            <a:off x="6492240" y="2743200"/>
            <a:ext cx="384048" cy="384048"/>
          </a:xfrm>
          <a:prstGeom prst="rect">
            <a:avLst/>
          </a:prstGeom>
          <a:solidFill>
            <a:schemeClr val="accent1">
              <a:alpha val="80000"/>
            </a:schemeClr>
          </a:solidFill>
          <a:ln/>
        </p:spPr>
      </p:sp>
      <p:sp>
        <p:nvSpPr>
          <p:cNvPr id="36" name="Carreau"/>
          <p:cNvSpPr/>
          <p:nvPr/>
        </p:nvSpPr>
        <p:spPr>
          <a:xfrm>
            <a:off x="6949440" y="2743200"/>
            <a:ext cx="384048" cy="384048"/>
          </a:xfrm>
          <a:prstGeom prst="rect">
            <a:avLst/>
          </a:prstGeom>
          <a:solidFill>
            <a:schemeClr val="accent2"/>
          </a:solidFill>
          <a:ln/>
        </p:spPr>
      </p:sp>
      <p:sp>
        <p:nvSpPr>
          <p:cNvPr id="37" name="Carreau"/>
          <p:cNvSpPr/>
          <p:nvPr/>
        </p:nvSpPr>
        <p:spPr>
          <a:xfrm>
            <a:off x="7406640" y="2743200"/>
            <a:ext cx="384048" cy="384048"/>
          </a:xfrm>
          <a:prstGeom prst="rect">
            <a:avLst/>
          </a:prstGeom>
          <a:solidFill>
            <a:schemeClr val="accent1">
              <a:alpha val="45000"/>
            </a:schemeClr>
          </a:solidFill>
          <a:ln/>
        </p:spPr>
      </p:sp>
      <p:sp>
        <p:nvSpPr>
          <p:cNvPr id="38" name="Carreau"/>
          <p:cNvSpPr/>
          <p:nvPr/>
        </p:nvSpPr>
        <p:spPr>
          <a:xfrm>
            <a:off x="7863840" y="2743200"/>
            <a:ext cx="384048" cy="384048"/>
          </a:xfrm>
          <a:prstGeom prst="rect">
            <a:avLst/>
          </a:prstGeom>
          <a:solidFill>
            <a:schemeClr val="accent1">
              <a:alpha val="75000"/>
            </a:schemeClr>
          </a:solidFill>
          <a:ln/>
        </p:spPr>
      </p:sp>
      <p:sp>
        <p:nvSpPr>
          <p:cNvPr id="39" name="Carreau"/>
          <p:cNvSpPr/>
          <p:nvPr/>
        </p:nvSpPr>
        <p:spPr>
          <a:xfrm>
            <a:off x="8321040" y="2743200"/>
            <a:ext cx="384048" cy="384048"/>
          </a:xfrm>
          <a:prstGeom prst="rect">
            <a:avLst/>
          </a:prstGeom>
          <a:solidFill>
            <a:schemeClr val="accent2"/>
          </a:solidFill>
          <a:ln/>
        </p:spPr>
      </p:sp>
      <p:sp>
        <p:nvSpPr>
          <p:cNvPr id="40" name="Carreau"/>
          <p:cNvSpPr/>
          <p:nvPr/>
        </p:nvSpPr>
        <p:spPr>
          <a:xfrm>
            <a:off x="5577840" y="3200400"/>
            <a:ext cx="384048" cy="384048"/>
          </a:xfrm>
          <a:prstGeom prst="rect">
            <a:avLst/>
          </a:prstGeom>
          <a:solidFill>
            <a:schemeClr val="accent1"/>
          </a:solidFill>
          <a:ln/>
        </p:spPr>
      </p:sp>
      <p:sp>
        <p:nvSpPr>
          <p:cNvPr id="41" name="Carreau"/>
          <p:cNvSpPr/>
          <p:nvPr/>
        </p:nvSpPr>
        <p:spPr>
          <a:xfrm>
            <a:off x="6035040" y="3200400"/>
            <a:ext cx="384048" cy="384048"/>
          </a:xfrm>
          <a:prstGeom prst="rect">
            <a:avLst/>
          </a:prstGeom>
          <a:solidFill>
            <a:schemeClr val="accent1">
              <a:alpha val="90000"/>
            </a:schemeClr>
          </a:solidFill>
          <a:ln/>
        </p:spPr>
      </p:sp>
      <p:sp>
        <p:nvSpPr>
          <p:cNvPr id="42" name="Carreau"/>
          <p:cNvSpPr/>
          <p:nvPr/>
        </p:nvSpPr>
        <p:spPr>
          <a:xfrm>
            <a:off x="6492240" y="3200400"/>
            <a:ext cx="384048" cy="384048"/>
          </a:xfrm>
          <a:prstGeom prst="rect">
            <a:avLst/>
          </a:prstGeom>
          <a:solidFill>
            <a:schemeClr val="accent2"/>
          </a:solidFill>
          <a:ln/>
        </p:spPr>
      </p:sp>
      <p:sp>
        <p:nvSpPr>
          <p:cNvPr id="43" name="Carreau"/>
          <p:cNvSpPr/>
          <p:nvPr/>
        </p:nvSpPr>
        <p:spPr>
          <a:xfrm>
            <a:off x="6949440" y="3200400"/>
            <a:ext cx="384048" cy="384048"/>
          </a:xfrm>
          <a:prstGeom prst="rect">
            <a:avLst/>
          </a:prstGeom>
          <a:solidFill>
            <a:schemeClr val="accent1">
              <a:alpha val="55000"/>
            </a:schemeClr>
          </a:solidFill>
          <a:ln/>
        </p:spPr>
      </p:sp>
      <p:sp>
        <p:nvSpPr>
          <p:cNvPr id="44" name="Carreau"/>
          <p:cNvSpPr/>
          <p:nvPr/>
        </p:nvSpPr>
        <p:spPr>
          <a:xfrm>
            <a:off x="7406640" y="3200400"/>
            <a:ext cx="384048" cy="384048"/>
          </a:xfrm>
          <a:prstGeom prst="rect">
            <a:avLst/>
          </a:prstGeom>
          <a:solidFill>
            <a:schemeClr val="accent1">
              <a:alpha val="45000"/>
            </a:schemeClr>
          </a:solidFill>
          <a:ln/>
        </p:spPr>
      </p:sp>
      <p:sp>
        <p:nvSpPr>
          <p:cNvPr id="45" name="Carreau"/>
          <p:cNvSpPr/>
          <p:nvPr/>
        </p:nvSpPr>
        <p:spPr>
          <a:xfrm>
            <a:off x="7863840" y="3200400"/>
            <a:ext cx="384048" cy="384048"/>
          </a:xfrm>
          <a:prstGeom prst="rect">
            <a:avLst/>
          </a:prstGeom>
          <a:solidFill>
            <a:schemeClr val="accent2"/>
          </a:solidFill>
          <a:ln/>
        </p:spPr>
      </p:sp>
      <p:sp>
        <p:nvSpPr>
          <p:cNvPr id="46" name="Carreau"/>
          <p:cNvSpPr/>
          <p:nvPr/>
        </p:nvSpPr>
        <p:spPr>
          <a:xfrm>
            <a:off x="8321040" y="3200400"/>
            <a:ext cx="384048" cy="384048"/>
          </a:xfrm>
          <a:prstGeom prst="rect">
            <a:avLst/>
          </a:prstGeom>
          <a:solidFill>
            <a:schemeClr val="accent2"/>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640080" y="256032"/>
            <a:ext cx="7772400"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MOBILI'SCORE · LE PROBLÈME</a:t>
            </a:r>
            <a:endParaRPr lang="en-US" sz="1100" dirty="0"/>
          </a:p>
        </p:txBody>
      </p:sp>
      <p:sp>
        <p:nvSpPr>
          <p:cNvPr id="3" name="Text 1"/>
          <p:cNvSpPr/>
          <p:nvPr>
            <p:ph idx="102" type="title" hasCustomPrompt="1"/>
          </p:nvPr>
        </p:nvSpPr>
        <p:spPr>
          <a:xfrm>
            <a:off x="457200" y="566928"/>
            <a:ext cx="8229600" cy="685800"/>
          </a:xfrm>
          <a:prstGeom prst="rect">
            <a:avLst/>
          </a:prstGeom>
          <a:noFill/>
          <a:ln/>
        </p:spPr>
        <p:txBody>
          <a:bodyPr wrap="square" lIns="0" tIns="0" rIns="0" bIns="0" rtlCol="0" anchor="t"/>
          <a:lstStyle/>
          <a:p>
            <a:pPr algn="l" indent="0" marL="0">
              <a:buNone/>
            </a:pPr>
            <a:r>
              <a:rPr lang="en-US" sz="2600" b="1" dirty="0">
                <a:solidFill>
                  <a:schemeClr val="tx1"/>
                </a:solidFill>
              </a:rPr>
              <a:t>Où Citiz doit-elle ouvrir ses prochaines stations ?</a:t>
            </a:r>
            <a:endParaRPr lang="en-US" sz="2600" dirty="0"/>
          </a:p>
        </p:txBody>
      </p:sp>
      <p:sp>
        <p:nvSpPr>
          <p:cNvPr id="4" name="Text 2"/>
          <p:cNvSpPr txBox="1"/>
          <p:nvPr/>
        </p:nvSpPr>
        <p:spPr>
          <a:xfrm>
            <a:off x="457200" y="1371600"/>
            <a:ext cx="1554480" cy="731520"/>
          </a:xfrm>
          <a:prstGeom prst="rect">
            <a:avLst/>
          </a:prstGeom>
          <a:noFill/>
          <a:ln/>
        </p:spPr>
        <p:txBody>
          <a:bodyPr wrap="square" lIns="0" tIns="0" rIns="0" bIns="0" rtlCol="0" anchor="ctr"/>
          <a:lstStyle/>
          <a:p>
            <a:pPr indent="0" marL="0">
              <a:buNone/>
            </a:pPr>
            <a:r>
              <a:rPr lang="en-US" sz="3400" b="1" dirty="0">
                <a:solidFill>
                  <a:schemeClr val="accent2"/>
                </a:solidFill>
              </a:rPr>
              <a:t>33 %</a:t>
            </a:r>
            <a:endParaRPr lang="en-US" sz="3400" dirty="0"/>
          </a:p>
        </p:txBody>
      </p:sp>
      <p:sp>
        <p:nvSpPr>
          <p:cNvPr id="5" name="Text 3"/>
          <p:cNvSpPr txBox="1"/>
          <p:nvPr/>
        </p:nvSpPr>
        <p:spPr>
          <a:xfrm>
            <a:off x="2057400" y="1371600"/>
            <a:ext cx="2468880" cy="731520"/>
          </a:xfrm>
          <a:prstGeom prst="rect">
            <a:avLst/>
          </a:prstGeom>
          <a:noFill/>
          <a:ln/>
        </p:spPr>
        <p:txBody>
          <a:bodyPr wrap="square" lIns="0" tIns="0" rIns="0" bIns="0" rtlCol="0" anchor="ctr"/>
          <a:lstStyle/>
          <a:p>
            <a:pPr indent="0" marL="0">
              <a:buNone/>
            </a:pPr>
            <a:r>
              <a:rPr lang="en-US" sz="1350" dirty="0">
                <a:solidFill>
                  <a:schemeClr val="tx1"/>
                </a:solidFill>
              </a:rPr>
              <a:t>des habitants n'ont aucune option de transport à 5 minutes à pied</a:t>
            </a:r>
            <a:endParaRPr lang="en-US" sz="1350" dirty="0"/>
          </a:p>
        </p:txBody>
      </p:sp>
      <p:sp>
        <p:nvSpPr>
          <p:cNvPr id="6" name="Text 4"/>
          <p:cNvSpPr txBox="1"/>
          <p:nvPr/>
        </p:nvSpPr>
        <p:spPr>
          <a:xfrm>
            <a:off x="457200" y="2212848"/>
            <a:ext cx="1554480" cy="731520"/>
          </a:xfrm>
          <a:prstGeom prst="rect">
            <a:avLst/>
          </a:prstGeom>
          <a:noFill/>
          <a:ln/>
        </p:spPr>
        <p:txBody>
          <a:bodyPr wrap="square" lIns="0" tIns="0" rIns="0" bIns="0" rtlCol="0" anchor="ctr"/>
          <a:lstStyle/>
          <a:p>
            <a:pPr indent="0" marL="0">
              <a:buNone/>
            </a:pPr>
            <a:r>
              <a:rPr lang="en-US" sz="3400" b="1" dirty="0">
                <a:solidFill>
                  <a:schemeClr val="accent1"/>
                </a:solidFill>
              </a:rPr>
              <a:t>3,5 %</a:t>
            </a:r>
            <a:endParaRPr lang="en-US" sz="3400" dirty="0"/>
          </a:p>
        </p:txBody>
      </p:sp>
      <p:sp>
        <p:nvSpPr>
          <p:cNvPr id="7" name="Text 5"/>
          <p:cNvSpPr txBox="1"/>
          <p:nvPr/>
        </p:nvSpPr>
        <p:spPr>
          <a:xfrm>
            <a:off x="2057400" y="2212848"/>
            <a:ext cx="2468880" cy="731520"/>
          </a:xfrm>
          <a:prstGeom prst="rect">
            <a:avLst/>
          </a:prstGeom>
          <a:noFill/>
          <a:ln/>
        </p:spPr>
        <p:txBody>
          <a:bodyPr wrap="square" lIns="0" tIns="0" rIns="0" bIns="0" rtlCol="0" anchor="ctr"/>
          <a:lstStyle/>
          <a:p>
            <a:pPr indent="0" marL="0">
              <a:buNone/>
            </a:pPr>
            <a:r>
              <a:rPr lang="en-US" sz="1350" dirty="0">
                <a:solidFill>
                  <a:schemeClr val="tx1"/>
                </a:solidFill>
              </a:rPr>
              <a:t>seulement ont une station Citiz à 5 minutes</a:t>
            </a:r>
            <a:endParaRPr lang="en-US" sz="1350" dirty="0"/>
          </a:p>
        </p:txBody>
      </p:sp>
      <p:sp>
        <p:nvSpPr>
          <p:cNvPr id="8" name="Text 6"/>
          <p:cNvSpPr txBox="1"/>
          <p:nvPr/>
        </p:nvSpPr>
        <p:spPr>
          <a:xfrm>
            <a:off x="457200" y="3054096"/>
            <a:ext cx="1554480" cy="731520"/>
          </a:xfrm>
          <a:prstGeom prst="rect">
            <a:avLst/>
          </a:prstGeom>
          <a:noFill/>
          <a:ln/>
        </p:spPr>
        <p:txBody>
          <a:bodyPr wrap="square" lIns="0" tIns="0" rIns="0" bIns="0" rtlCol="0" anchor="ctr"/>
          <a:lstStyle/>
          <a:p>
            <a:pPr indent="0" marL="0">
              <a:buNone/>
            </a:pPr>
            <a:r>
              <a:rPr lang="en-US" sz="3400" b="1" dirty="0">
                <a:solidFill>
                  <a:schemeClr val="accent2"/>
                </a:solidFill>
              </a:rPr>
              <a:t>303</a:t>
            </a:r>
            <a:endParaRPr lang="en-US" sz="3400" dirty="0"/>
          </a:p>
        </p:txBody>
      </p:sp>
      <p:sp>
        <p:nvSpPr>
          <p:cNvPr id="9" name="Text 7"/>
          <p:cNvSpPr txBox="1"/>
          <p:nvPr/>
        </p:nvSpPr>
        <p:spPr>
          <a:xfrm>
            <a:off x="2057400" y="3054096"/>
            <a:ext cx="2468880" cy="731520"/>
          </a:xfrm>
          <a:prstGeom prst="rect">
            <a:avLst/>
          </a:prstGeom>
          <a:noFill/>
          <a:ln/>
        </p:spPr>
        <p:txBody>
          <a:bodyPr wrap="square" lIns="0" tIns="0" rIns="0" bIns="0" rtlCol="0" anchor="ctr"/>
          <a:lstStyle/>
          <a:p>
            <a:pPr indent="0" marL="0">
              <a:buNone/>
            </a:pPr>
            <a:r>
              <a:rPr lang="en-US" sz="1350" dirty="0">
                <a:solidFill>
                  <a:schemeClr val="tx1"/>
                </a:solidFill>
              </a:rPr>
              <a:t>stations Citiz déjà saturées, réservées plus de 60 % du temps</a:t>
            </a:r>
            <a:endParaRPr lang="en-US" sz="1350" dirty="0"/>
          </a:p>
        </p:txBody>
      </p:sp>
      <p:sp>
        <p:nvSpPr>
          <p:cNvPr id="10" name="Besoin"/>
          <p:cNvSpPr/>
          <p:nvPr/>
        </p:nvSpPr>
        <p:spPr>
          <a:xfrm>
            <a:off x="457200" y="3950208"/>
            <a:ext cx="4069080" cy="731520"/>
          </a:xfrm>
          <a:prstGeom prst="roundRect">
            <a:avLst>
              <a:gd name="adj" fmla="val 10000"/>
            </a:avLst>
          </a:prstGeom>
          <a:solidFill>
            <a:schemeClr val="accent4"/>
          </a:solidFill>
          <a:ln/>
        </p:spPr>
      </p:sp>
      <p:sp>
        <p:nvSpPr>
          <p:cNvPr id="11" name="Text 9"/>
          <p:cNvSpPr txBox="1"/>
          <p:nvPr/>
        </p:nvSpPr>
        <p:spPr>
          <a:xfrm>
            <a:off x="594360" y="3950208"/>
            <a:ext cx="3840480" cy="731520"/>
          </a:xfrm>
          <a:prstGeom prst="rect">
            <a:avLst/>
          </a:prstGeom>
          <a:noFill/>
          <a:ln/>
        </p:spPr>
        <p:txBody>
          <a:bodyPr wrap="square" lIns="0" tIns="0" rIns="0" bIns="0" rtlCol="0" anchor="ctr"/>
          <a:lstStyle/>
          <a:p>
            <a:pPr indent="0" marL="0">
              <a:buNone/>
            </a:pPr>
            <a:r>
              <a:rPr lang="en-US" sz="1300" b="1" dirty="0">
                <a:solidFill>
                  <a:schemeClr val="tx1"/>
                </a:solidFill>
              </a:rPr>
              <a:t>Le besoin : </a:t>
            </a:r>
            <a:pPr indent="0" marL="0">
              <a:buNone/>
            </a:pPr>
            <a:r>
              <a:rPr lang="en-US" sz="1300" dirty="0">
                <a:solidFill>
                  <a:schemeClr val="tx1"/>
                </a:solidFill>
              </a:rPr>
              <a:t>une liste de sites priorisée, chiffrée et sous budget, qui tient compte de l'offre existante.</a:t>
            </a:r>
            <a:endParaRPr lang="en-US" sz="1300" dirty="0"/>
          </a:p>
        </p:txBody>
      </p:sp>
      <p:pic>
        <p:nvPicPr>
          <p:cNvPr id="12" name="Figure slides_map_france.png" descr="Carte de l'accès à la mobilité à 5 minutes de marche en France">    </p:cNvPr>
          <p:cNvPicPr>
            <a:picLocks noChangeAspect="1"/>
          </p:cNvPicPr>
          <p:nvPr/>
        </p:nvPicPr>
        <p:blipFill>
          <a:blip r:embed="rId1"/>
          <a:stretch>
            <a:fillRect/>
          </a:stretch>
        </p:blipFill>
        <p:spPr>
          <a:xfrm>
            <a:off x="4846404" y="1234440"/>
            <a:ext cx="3748872" cy="3474720"/>
          </a:xfrm>
          <a:prstGeom prst="rect">
            <a:avLst/>
          </a:prstGeom>
        </p:spPr>
      </p:pic>
      <p:sp>
        <p:nvSpPr>
          <p:cNvPr id="13" name="Source"/>
          <p:cNvSpPr txBox="1"/>
          <p:nvPr/>
        </p:nvSpPr>
        <p:spPr>
          <a:xfrm>
            <a:off x="457200" y="4773168"/>
            <a:ext cx="7589520" cy="228600"/>
          </a:xfrm>
          <a:prstGeom prst="rect">
            <a:avLst/>
          </a:prstGeom>
          <a:noFill/>
          <a:ln/>
        </p:spPr>
        <p:txBody>
          <a:bodyPr wrap="square" lIns="0" tIns="0" rIns="0" bIns="0" rtlCol="0" anchor="ctr"/>
          <a:lstStyle/>
          <a:p>
            <a:pPr indent="0" marL="0">
              <a:buNone/>
            </a:pPr>
            <a:r>
              <a:rPr lang="en-US" sz="900" dirty="0">
                <a:solidFill>
                  <a:schemeClr val="accent5"/>
                </a:solidFill>
              </a:rPr>
              <a:t>Diagnostic sur 63,8 M d'habitants (Métropole, Martinique, La Réunion) · carte : score d'accès, gris = majorité sans option</a:t>
            </a:r>
            <a:endParaRPr lang="en-US" sz="9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640080" y="256032"/>
            <a:ext cx="7772400"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LE CONTEXTE · NOTRE TERRITOIRE</a:t>
            </a:r>
            <a:endParaRPr lang="en-US" sz="1100" dirty="0"/>
          </a:p>
        </p:txBody>
      </p:sp>
      <p:sp>
        <p:nvSpPr>
          <p:cNvPr id="3" name="Text 1"/>
          <p:cNvSpPr/>
          <p:nvPr>
            <p:ph idx="102" type="title" hasCustomPrompt="1"/>
          </p:nvPr>
        </p:nvSpPr>
        <p:spPr>
          <a:xfrm>
            <a:off x="457200" y="566928"/>
            <a:ext cx="8229600" cy="685800"/>
          </a:xfrm>
          <a:prstGeom prst="rect">
            <a:avLst/>
          </a:prstGeom>
          <a:noFill/>
          <a:ln/>
        </p:spPr>
        <p:txBody>
          <a:bodyPr wrap="square" lIns="0" tIns="0" rIns="0" bIns="0" rtlCol="0" anchor="t"/>
          <a:lstStyle/>
          <a:p>
            <a:pPr algn="l" indent="0" marL="0">
              <a:buNone/>
            </a:pPr>
            <a:r>
              <a:rPr lang="en-US" sz="2600" b="1" dirty="0">
                <a:solidFill>
                  <a:schemeClr val="tx1"/>
                </a:solidFill>
              </a:rPr>
              <a:t>Lyon, parce que c'est là que Citiz a le plus à gagner</a:t>
            </a:r>
            <a:endParaRPr lang="en-US" sz="2600" dirty="0"/>
          </a:p>
        </p:txBody>
      </p:sp>
      <p:graphicFrame>
        <p:nvGraphicFramePr>
          <p:cNvPr id="4" name="Chart 0" descr=""/>
          <p:cNvGraphicFramePr/>
          <p:nvPr/>
        </p:nvGraphicFramePr>
        <p:xfrm>
          <a:off x="365760" y="1280160"/>
          <a:ext cx="4206240" cy="3429000"/>
        </p:xfrm>
        <a:graphic xmlns:a="http://schemas.openxmlformats.org/drawingml/2006/main">
          <a:graphicData uri="http://schemas.openxmlformats.org/drawingml/2006/chart">
            <c:chart xmlns:c="http://schemas.openxmlformats.org/drawingml/2006/chart" r:id="rId1"/>
          </a:graphicData>
        </a:graphic>
      </p:graphicFrame>
      <p:sp>
        <p:nvSpPr>
          <p:cNvPr id="5" name="Raison"/>
          <p:cNvSpPr/>
          <p:nvPr/>
        </p:nvSpPr>
        <p:spPr>
          <a:xfrm>
            <a:off x="4846320" y="1371600"/>
            <a:ext cx="3840480" cy="960120"/>
          </a:xfrm>
          <a:prstGeom prst="roundRect">
            <a:avLst>
              <a:gd name="adj" fmla="val 7619"/>
            </a:avLst>
          </a:prstGeom>
          <a:solidFill>
            <a:schemeClr val="bg1"/>
          </a:solidFill>
          <a:ln w="9525">
            <a:solidFill>
              <a:srgbClr val="E5E7EB"/>
            </a:solidFill>
            <a:prstDash val="solid"/>
          </a:ln>
        </p:spPr>
      </p:sp>
      <p:sp>
        <p:nvSpPr>
          <p:cNvPr id="6" name="Text 3"/>
          <p:cNvSpPr txBox="1"/>
          <p:nvPr/>
        </p:nvSpPr>
        <p:spPr>
          <a:xfrm>
            <a:off x="4983480" y="1444752"/>
            <a:ext cx="3611880" cy="822960"/>
          </a:xfrm>
          <a:prstGeom prst="rect">
            <a:avLst/>
          </a:prstGeom>
          <a:noFill/>
          <a:ln/>
        </p:spPr>
        <p:txBody>
          <a:bodyPr wrap="square" lIns="0" tIns="0" rIns="0" bIns="0" rtlCol="0" anchor="ctr"/>
          <a:lstStyle/>
          <a:p>
            <a:pPr indent="0" marL="0">
              <a:buNone/>
            </a:pPr>
            <a:r>
              <a:rPr lang="en-US" sz="1400" b="1" dirty="0">
                <a:solidFill>
                  <a:schemeClr val="tx1"/>
                </a:solidFill>
              </a:rPr>
              <a:t>Comparées à budget égal</a:t>
            </a:r>
            <a:endParaRPr lang="en-US" sz="1400" dirty="0"/>
          </a:p>
          <a:p>
            <a:pPr indent="0" marL="0">
              <a:buNone/>
            </a:pPr>
            <a:r>
              <a:rPr lang="en-US" sz="1250" dirty="0">
                <a:solidFill>
                  <a:schemeClr val="tx1"/>
                </a:solidFill>
              </a:rPr>
              <a:t>Les 99 intercommunalités de plus de 100 000 habitants, simulées avec 1 M€ chacune.</a:t>
            </a:r>
            <a:endParaRPr lang="en-US" sz="1400" dirty="0"/>
          </a:p>
        </p:txBody>
      </p:sp>
      <p:sp>
        <p:nvSpPr>
          <p:cNvPr id="7" name="Raison"/>
          <p:cNvSpPr/>
          <p:nvPr/>
        </p:nvSpPr>
        <p:spPr>
          <a:xfrm>
            <a:off x="4846320" y="2468880"/>
            <a:ext cx="3840480" cy="960120"/>
          </a:xfrm>
          <a:prstGeom prst="roundRect">
            <a:avLst>
              <a:gd name="adj" fmla="val 7619"/>
            </a:avLst>
          </a:prstGeom>
          <a:solidFill>
            <a:schemeClr val="bg1"/>
          </a:solidFill>
          <a:ln w="9525">
            <a:solidFill>
              <a:srgbClr val="E5E7EB"/>
            </a:solidFill>
            <a:prstDash val="solid"/>
          </a:ln>
        </p:spPr>
      </p:sp>
      <p:sp>
        <p:nvSpPr>
          <p:cNvPr id="8" name="Text 5"/>
          <p:cNvSpPr txBox="1"/>
          <p:nvPr/>
        </p:nvSpPr>
        <p:spPr>
          <a:xfrm>
            <a:off x="4983480" y="2542032"/>
            <a:ext cx="3611880" cy="822960"/>
          </a:xfrm>
          <a:prstGeom prst="rect">
            <a:avLst/>
          </a:prstGeom>
          <a:noFill/>
          <a:ln/>
        </p:spPr>
        <p:txBody>
          <a:bodyPr wrap="square" lIns="0" tIns="0" rIns="0" bIns="0" rtlCol="0" anchor="ctr"/>
          <a:lstStyle/>
          <a:p>
            <a:pPr indent="0" marL="0">
              <a:buNone/>
            </a:pPr>
            <a:r>
              <a:rPr lang="en-US" sz="1400" b="1" dirty="0">
                <a:solidFill>
                  <a:schemeClr val="tx1"/>
                </a:solidFill>
              </a:rPr>
              <a:t>Corrigées du risque terrain</a:t>
            </a:r>
            <a:endParaRPr lang="en-US" sz="1400" dirty="0"/>
          </a:p>
          <a:p>
            <a:pPr indent="0" marL="0">
              <a:buNone/>
            </a:pPr>
            <a:r>
              <a:rPr lang="en-US" sz="1250" dirty="0">
                <a:solidFill>
                  <a:schemeClr val="tx1"/>
                </a:solidFill>
              </a:rPr>
              <a:t>Nice, 1re pour le modèle, a vu échouer deux services d'autopartage : elle recule au 8e rang.</a:t>
            </a:r>
            <a:endParaRPr lang="en-US" sz="1400" dirty="0"/>
          </a:p>
        </p:txBody>
      </p:sp>
      <p:sp>
        <p:nvSpPr>
          <p:cNvPr id="9" name="Raison"/>
          <p:cNvSpPr/>
          <p:nvPr/>
        </p:nvSpPr>
        <p:spPr>
          <a:xfrm>
            <a:off x="4846320" y="3566160"/>
            <a:ext cx="3840480" cy="960120"/>
          </a:xfrm>
          <a:prstGeom prst="roundRect">
            <a:avLst>
              <a:gd name="adj" fmla="val 7619"/>
            </a:avLst>
          </a:prstGeom>
          <a:solidFill>
            <a:schemeClr val="accent4"/>
          </a:solidFill>
          <a:ln/>
        </p:spPr>
      </p:sp>
      <p:sp>
        <p:nvSpPr>
          <p:cNvPr id="10" name="Text 7"/>
          <p:cNvSpPr txBox="1"/>
          <p:nvPr/>
        </p:nvSpPr>
        <p:spPr>
          <a:xfrm>
            <a:off x="4983480" y="3639312"/>
            <a:ext cx="3611880" cy="822960"/>
          </a:xfrm>
          <a:prstGeom prst="rect">
            <a:avLst/>
          </a:prstGeom>
          <a:noFill/>
          <a:ln/>
        </p:spPr>
        <p:txBody>
          <a:bodyPr wrap="square" lIns="0" tIns="0" rIns="0" bIns="0" rtlCol="0" anchor="ctr"/>
          <a:lstStyle/>
          <a:p>
            <a:pPr indent="0" marL="0">
              <a:buNone/>
            </a:pPr>
            <a:r>
              <a:rPr lang="en-US" sz="1400" b="1" dirty="0">
                <a:solidFill>
                  <a:schemeClr val="tx1"/>
                </a:solidFill>
              </a:rPr>
              <a:t>Lyon arrive en tête</a:t>
            </a:r>
            <a:endParaRPr lang="en-US" sz="1400" dirty="0"/>
          </a:p>
          <a:p>
            <a:pPr indent="0" marL="0">
              <a:buNone/>
            </a:pPr>
            <a:r>
              <a:rPr lang="en-US" sz="1250" dirty="0">
                <a:solidFill>
                  <a:schemeClr val="tx1"/>
                </a:solidFill>
              </a:rPr>
              <a:t>3 934 adhérents potentiels, Citiz LPA déjà implanté, et une Métropole qui planifie l'autopartage d'ici 2030.</a:t>
            </a:r>
            <a:endParaRPr lang="en-US" sz="1400" dirty="0"/>
          </a:p>
        </p:txBody>
      </p:sp>
      <p:sp>
        <p:nvSpPr>
          <p:cNvPr id="11" name="Source"/>
          <p:cNvSpPr txBox="1"/>
          <p:nvPr/>
        </p:nvSpPr>
        <p:spPr>
          <a:xfrm>
            <a:off x="457200" y="4773168"/>
            <a:ext cx="7589520" cy="228600"/>
          </a:xfrm>
          <a:prstGeom prst="rect">
            <a:avLst/>
          </a:prstGeom>
          <a:noFill/>
          <a:ln/>
        </p:spPr>
        <p:txBody>
          <a:bodyPr wrap="square" lIns="0" tIns="0" rIns="0" bIns="0" rtlCol="0" anchor="ctr"/>
          <a:lstStyle/>
          <a:p>
            <a:pPr indent="0" marL="0">
              <a:buNone/>
            </a:pPr>
            <a:r>
              <a:rPr lang="en-US" sz="900" dirty="0">
                <a:solidFill>
                  <a:schemeClr val="accent5"/>
                </a:solidFill>
              </a:rPr>
              <a:t>Source : outputs/territories_citiz.csv · Île-de-France exclue (autopartage absent des flux GBFS publics) · Strasbourg sert de territoire témoin</a:t>
            </a:r>
            <a:endParaRPr lang="en-US" sz="9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640080" y="256032"/>
            <a:ext cx="7772400"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NOTRE SOLUTION</a:t>
            </a:r>
            <a:endParaRPr lang="en-US" sz="1100" dirty="0"/>
          </a:p>
        </p:txBody>
      </p:sp>
      <p:sp>
        <p:nvSpPr>
          <p:cNvPr id="3" name="Text 1"/>
          <p:cNvSpPr/>
          <p:nvPr>
            <p:ph idx="102" type="title" hasCustomPrompt="1"/>
          </p:nvPr>
        </p:nvSpPr>
        <p:spPr>
          <a:xfrm>
            <a:off x="457200" y="566928"/>
            <a:ext cx="8229600" cy="685800"/>
          </a:xfrm>
          <a:prstGeom prst="rect">
            <a:avLst/>
          </a:prstGeom>
          <a:noFill/>
          <a:ln/>
        </p:spPr>
        <p:txBody>
          <a:bodyPr wrap="square" lIns="0" tIns="0" rIns="0" bIns="0" rtlCol="0" anchor="t"/>
          <a:lstStyle/>
          <a:p>
            <a:pPr algn="l" indent="0" marL="0">
              <a:buNone/>
            </a:pPr>
            <a:r>
              <a:rPr lang="en-US" sz="2600" b="1" dirty="0">
                <a:solidFill>
                  <a:schemeClr val="tx1"/>
                </a:solidFill>
              </a:rPr>
              <a:t>Un outil qui transforme l'open data en liste de stations</a:t>
            </a:r>
            <a:endParaRPr lang="en-US" sz="2600" dirty="0"/>
          </a:p>
        </p:txBody>
      </p:sp>
      <p:sp>
        <p:nvSpPr>
          <p:cNvPr id="4" name="Étape 1"/>
          <p:cNvSpPr/>
          <p:nvPr/>
        </p:nvSpPr>
        <p:spPr>
          <a:xfrm>
            <a:off x="457200" y="1417320"/>
            <a:ext cx="1920240" cy="2148840"/>
          </a:xfrm>
          <a:prstGeom prst="roundRect">
            <a:avLst>
              <a:gd name="adj" fmla="val 3810"/>
            </a:avLst>
          </a:prstGeom>
          <a:solidFill>
            <a:schemeClr val="bg1"/>
          </a:solidFill>
          <a:ln w="9525">
            <a:solidFill>
              <a:srgbClr val="E5E7EB"/>
            </a:solidFill>
            <a:prstDash val="solid"/>
          </a:ln>
        </p:spPr>
      </p:sp>
      <p:sp>
        <p:nvSpPr>
          <p:cNvPr id="5" name="Carreau"/>
          <p:cNvSpPr/>
          <p:nvPr/>
        </p:nvSpPr>
        <p:spPr>
          <a:xfrm>
            <a:off x="621792" y="1600200"/>
            <a:ext cx="384048" cy="384048"/>
          </a:xfrm>
          <a:prstGeom prst="rect">
            <a:avLst/>
          </a:prstGeom>
          <a:solidFill>
            <a:schemeClr val="accent1"/>
          </a:solidFill>
          <a:ln/>
        </p:spPr>
      </p:sp>
      <p:sp>
        <p:nvSpPr>
          <p:cNvPr id="6" name="Text 4"/>
          <p:cNvSpPr txBox="1"/>
          <p:nvPr/>
        </p:nvSpPr>
        <p:spPr>
          <a:xfrm>
            <a:off x="621792" y="160020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5"/>
          <p:cNvSpPr txBox="1"/>
          <p:nvPr/>
        </p:nvSpPr>
        <p:spPr>
          <a:xfrm>
            <a:off x="621792" y="2121408"/>
            <a:ext cx="1645920" cy="1371600"/>
          </a:xfrm>
          <a:prstGeom prst="rect">
            <a:avLst/>
          </a:prstGeom>
          <a:noFill/>
          <a:ln/>
        </p:spPr>
        <p:txBody>
          <a:bodyPr wrap="square" lIns="0" tIns="0" rIns="0" bIns="0" rtlCol="0" anchor="t"/>
          <a:lstStyle/>
          <a:p>
            <a:pPr indent="0" marL="0">
              <a:buNone/>
            </a:pPr>
            <a:r>
              <a:rPr lang="en-US" sz="1400" b="1" dirty="0">
                <a:solidFill>
                  <a:schemeClr val="tx1"/>
                </a:solidFill>
              </a:rPr>
              <a:t>Mesurer l'accès</a:t>
            </a:r>
            <a:endParaRPr lang="en-US" sz="1400" dirty="0"/>
          </a:p>
          <a:p>
            <a:pPr indent="0" marL="0">
              <a:buNone/>
            </a:pPr>
            <a:r>
              <a:rPr lang="en-US" sz="1200" dirty="0">
                <a:solidFill>
                  <a:schemeClr val="accent5"/>
                </a:solidFill>
              </a:rPr>
              <a:t>Options à 5 min de marche réelle (282 m) pour 2,3 M de carreaux, pondérées par la fréquence des lignes</a:t>
            </a:r>
            <a:endParaRPr lang="en-US" sz="1400" dirty="0"/>
          </a:p>
        </p:txBody>
      </p:sp>
      <p:sp>
        <p:nvSpPr>
          <p:cNvPr id="8" name="Flèche"/>
          <p:cNvSpPr/>
          <p:nvPr/>
        </p:nvSpPr>
        <p:spPr>
          <a:xfrm>
            <a:off x="2386584" y="2377440"/>
            <a:ext cx="164592" cy="219456"/>
          </a:xfrm>
          <a:prstGeom prst="rightArrow">
            <a:avLst/>
          </a:prstGeom>
          <a:solidFill>
            <a:schemeClr val="accent5"/>
          </a:solidFill>
          <a:ln/>
        </p:spPr>
      </p:sp>
      <p:sp>
        <p:nvSpPr>
          <p:cNvPr id="9" name="Étape 2"/>
          <p:cNvSpPr/>
          <p:nvPr/>
        </p:nvSpPr>
        <p:spPr>
          <a:xfrm>
            <a:off x="2560320" y="1417320"/>
            <a:ext cx="1920240" cy="2148840"/>
          </a:xfrm>
          <a:prstGeom prst="roundRect">
            <a:avLst>
              <a:gd name="adj" fmla="val 3810"/>
            </a:avLst>
          </a:prstGeom>
          <a:solidFill>
            <a:schemeClr val="bg1"/>
          </a:solidFill>
          <a:ln w="9525">
            <a:solidFill>
              <a:srgbClr val="E5E7EB"/>
            </a:solidFill>
            <a:prstDash val="solid"/>
          </a:ln>
        </p:spPr>
      </p:sp>
      <p:sp>
        <p:nvSpPr>
          <p:cNvPr id="10" name="Carreau"/>
          <p:cNvSpPr/>
          <p:nvPr/>
        </p:nvSpPr>
        <p:spPr>
          <a:xfrm>
            <a:off x="2724912" y="1600200"/>
            <a:ext cx="384048" cy="384048"/>
          </a:xfrm>
          <a:prstGeom prst="rect">
            <a:avLst/>
          </a:prstGeom>
          <a:solidFill>
            <a:schemeClr val="accent1"/>
          </a:solidFill>
          <a:ln/>
        </p:spPr>
      </p:sp>
      <p:sp>
        <p:nvSpPr>
          <p:cNvPr id="11" name="Text 9"/>
          <p:cNvSpPr txBox="1"/>
          <p:nvPr/>
        </p:nvSpPr>
        <p:spPr>
          <a:xfrm>
            <a:off x="2724912" y="160020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10"/>
          <p:cNvSpPr txBox="1"/>
          <p:nvPr/>
        </p:nvSpPr>
        <p:spPr>
          <a:xfrm>
            <a:off x="2724912" y="2121408"/>
            <a:ext cx="1645920" cy="1371600"/>
          </a:xfrm>
          <a:prstGeom prst="rect">
            <a:avLst/>
          </a:prstGeom>
          <a:noFill/>
          <a:ln/>
        </p:spPr>
        <p:txBody>
          <a:bodyPr wrap="square" lIns="0" tIns="0" rIns="0" bIns="0" rtlCol="0" anchor="t"/>
          <a:lstStyle/>
          <a:p>
            <a:pPr indent="0" marL="0">
              <a:buNone/>
            </a:pPr>
            <a:r>
              <a:rPr lang="en-US" sz="1400" b="1" dirty="0">
                <a:solidFill>
                  <a:schemeClr val="tx1"/>
                </a:solidFill>
              </a:rPr>
              <a:t>Voir qui est concerné</a:t>
            </a:r>
            <a:endParaRPr lang="en-US" sz="1400" dirty="0"/>
          </a:p>
          <a:p>
            <a:pPr indent="0" marL="0">
              <a:buNone/>
            </a:pPr>
            <a:r>
              <a:rPr lang="en-US" sz="1200" dirty="0">
                <a:solidFill>
                  <a:schemeClr val="accent5"/>
                </a:solidFill>
              </a:rPr>
              <a:t>Habitants desservis par chaque arrêt et station, croisés avec revenus et motorisation</a:t>
            </a:r>
            <a:endParaRPr lang="en-US" sz="1400" dirty="0"/>
          </a:p>
        </p:txBody>
      </p:sp>
      <p:sp>
        <p:nvSpPr>
          <p:cNvPr id="13" name="Flèche"/>
          <p:cNvSpPr/>
          <p:nvPr/>
        </p:nvSpPr>
        <p:spPr>
          <a:xfrm>
            <a:off x="4489704" y="2377440"/>
            <a:ext cx="164592" cy="219456"/>
          </a:xfrm>
          <a:prstGeom prst="rightArrow">
            <a:avLst/>
          </a:prstGeom>
          <a:solidFill>
            <a:schemeClr val="accent5"/>
          </a:solidFill>
          <a:ln/>
        </p:spPr>
      </p:sp>
      <p:sp>
        <p:nvSpPr>
          <p:cNvPr id="14" name="Étape 3"/>
          <p:cNvSpPr/>
          <p:nvPr/>
        </p:nvSpPr>
        <p:spPr>
          <a:xfrm>
            <a:off x="4663440" y="1417320"/>
            <a:ext cx="1920240" cy="2148840"/>
          </a:xfrm>
          <a:prstGeom prst="roundRect">
            <a:avLst>
              <a:gd name="adj" fmla="val 3810"/>
            </a:avLst>
          </a:prstGeom>
          <a:solidFill>
            <a:schemeClr val="bg1"/>
          </a:solidFill>
          <a:ln w="9525">
            <a:solidFill>
              <a:srgbClr val="E5E7EB"/>
            </a:solidFill>
            <a:prstDash val="solid"/>
          </a:ln>
        </p:spPr>
      </p:sp>
      <p:sp>
        <p:nvSpPr>
          <p:cNvPr id="15" name="Carreau"/>
          <p:cNvSpPr/>
          <p:nvPr/>
        </p:nvSpPr>
        <p:spPr>
          <a:xfrm>
            <a:off x="4828032" y="1600200"/>
            <a:ext cx="384048" cy="384048"/>
          </a:xfrm>
          <a:prstGeom prst="rect">
            <a:avLst/>
          </a:prstGeom>
          <a:solidFill>
            <a:schemeClr val="accent1"/>
          </a:solidFill>
          <a:ln/>
        </p:spPr>
      </p:sp>
      <p:sp>
        <p:nvSpPr>
          <p:cNvPr id="16" name="Text 14"/>
          <p:cNvSpPr txBox="1"/>
          <p:nvPr/>
        </p:nvSpPr>
        <p:spPr>
          <a:xfrm>
            <a:off x="4828032" y="160020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xt 15"/>
          <p:cNvSpPr txBox="1"/>
          <p:nvPr/>
        </p:nvSpPr>
        <p:spPr>
          <a:xfrm>
            <a:off x="4828032" y="2121408"/>
            <a:ext cx="1645920" cy="1371600"/>
          </a:xfrm>
          <a:prstGeom prst="rect">
            <a:avLst/>
          </a:prstGeom>
          <a:noFill/>
          <a:ln/>
        </p:spPr>
        <p:txBody>
          <a:bodyPr wrap="square" lIns="0" tIns="0" rIns="0" bIns="0" rtlCol="0" anchor="t"/>
          <a:lstStyle/>
          <a:p>
            <a:pPr indent="0" marL="0">
              <a:buNone/>
            </a:pPr>
            <a:r>
              <a:rPr lang="en-US" sz="1400" b="1" dirty="0">
                <a:solidFill>
                  <a:schemeClr val="tx1"/>
                </a:solidFill>
              </a:rPr>
              <a:t>Prédire où Citiz réussit</a:t>
            </a:r>
            <a:endParaRPr lang="en-US" sz="1400" dirty="0"/>
          </a:p>
          <a:p>
            <a:pPr indent="0" marL="0">
              <a:buNone/>
            </a:pPr>
            <a:r>
              <a:rPr lang="en-US" sz="1200" dirty="0">
                <a:solidFill>
                  <a:schemeClr val="accent5"/>
                </a:solidFill>
              </a:rPr>
              <a:t>Modèle appris sur les stations existantes : 2 fois mieux que la population seule</a:t>
            </a:r>
            <a:endParaRPr lang="en-US" sz="1400" dirty="0"/>
          </a:p>
        </p:txBody>
      </p:sp>
      <p:sp>
        <p:nvSpPr>
          <p:cNvPr id="18" name="Flèche"/>
          <p:cNvSpPr/>
          <p:nvPr/>
        </p:nvSpPr>
        <p:spPr>
          <a:xfrm>
            <a:off x="6592824" y="2377440"/>
            <a:ext cx="164592" cy="219456"/>
          </a:xfrm>
          <a:prstGeom prst="rightArrow">
            <a:avLst/>
          </a:prstGeom>
          <a:solidFill>
            <a:schemeClr val="accent5"/>
          </a:solidFill>
          <a:ln/>
        </p:spPr>
      </p:sp>
      <p:sp>
        <p:nvSpPr>
          <p:cNvPr id="19" name="Étape 4"/>
          <p:cNvSpPr/>
          <p:nvPr/>
        </p:nvSpPr>
        <p:spPr>
          <a:xfrm>
            <a:off x="6766560" y="1417320"/>
            <a:ext cx="1920240" cy="2148840"/>
          </a:xfrm>
          <a:prstGeom prst="roundRect">
            <a:avLst>
              <a:gd name="adj" fmla="val 3810"/>
            </a:avLst>
          </a:prstGeom>
          <a:solidFill>
            <a:schemeClr val="bg1"/>
          </a:solidFill>
          <a:ln w="9525">
            <a:solidFill>
              <a:srgbClr val="E5E7EB"/>
            </a:solidFill>
            <a:prstDash val="solid"/>
          </a:ln>
        </p:spPr>
      </p:sp>
      <p:sp>
        <p:nvSpPr>
          <p:cNvPr id="20" name="Carreau"/>
          <p:cNvSpPr/>
          <p:nvPr/>
        </p:nvSpPr>
        <p:spPr>
          <a:xfrm>
            <a:off x="6931152" y="1600200"/>
            <a:ext cx="384048" cy="384048"/>
          </a:xfrm>
          <a:prstGeom prst="rect">
            <a:avLst/>
          </a:prstGeom>
          <a:solidFill>
            <a:schemeClr val="accent2"/>
          </a:solidFill>
          <a:ln/>
        </p:spPr>
      </p:sp>
      <p:sp>
        <p:nvSpPr>
          <p:cNvPr id="21" name="Text 19"/>
          <p:cNvSpPr txBox="1"/>
          <p:nvPr/>
        </p:nvSpPr>
        <p:spPr>
          <a:xfrm>
            <a:off x="6931152" y="160020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2" name="Text 20"/>
          <p:cNvSpPr txBox="1"/>
          <p:nvPr/>
        </p:nvSpPr>
        <p:spPr>
          <a:xfrm>
            <a:off x="6931152" y="2121408"/>
            <a:ext cx="1645920" cy="1371600"/>
          </a:xfrm>
          <a:prstGeom prst="rect">
            <a:avLst/>
          </a:prstGeom>
          <a:noFill/>
          <a:ln/>
        </p:spPr>
        <p:txBody>
          <a:bodyPr wrap="square" lIns="0" tIns="0" rIns="0" bIns="0" rtlCol="0" anchor="t"/>
          <a:lstStyle/>
          <a:p>
            <a:pPr indent="0" marL="0">
              <a:buNone/>
            </a:pPr>
            <a:r>
              <a:rPr lang="en-US" sz="1400" b="1" dirty="0">
                <a:solidFill>
                  <a:schemeClr val="tx1"/>
                </a:solidFill>
              </a:rPr>
              <a:t>Optimiser sous budget</a:t>
            </a:r>
            <a:endParaRPr lang="en-US" sz="1400" dirty="0"/>
          </a:p>
          <a:p>
            <a:pPr indent="0" marL="0">
              <a:buNone/>
            </a:pPr>
            <a:r>
              <a:rPr lang="en-US" sz="1200" dirty="0">
                <a:solidFill>
                  <a:schemeClr val="accent5"/>
                </a:solidFill>
              </a:rPr>
              <a:t>Liste priorisée avec coût, habitants gagnés et CO2 ; 97 % de l'optimum</a:t>
            </a:r>
            <a:endParaRPr lang="en-US" sz="1400" dirty="0"/>
          </a:p>
        </p:txBody>
      </p:sp>
      <p:sp>
        <p:nvSpPr>
          <p:cNvPr id="23" name="Preuve"/>
          <p:cNvSpPr/>
          <p:nvPr/>
        </p:nvSpPr>
        <p:spPr>
          <a:xfrm>
            <a:off x="457200" y="3749040"/>
            <a:ext cx="8229600" cy="868680"/>
          </a:xfrm>
          <a:prstGeom prst="roundRect">
            <a:avLst>
              <a:gd name="adj" fmla="val 8421"/>
            </a:avLst>
          </a:prstGeom>
          <a:solidFill>
            <a:schemeClr val="accent4"/>
          </a:solidFill>
          <a:ln/>
        </p:spPr>
      </p:sp>
      <p:sp>
        <p:nvSpPr>
          <p:cNvPr id="24" name="Text 22"/>
          <p:cNvSpPr txBox="1"/>
          <p:nvPr/>
        </p:nvSpPr>
        <p:spPr>
          <a:xfrm>
            <a:off x="621792" y="3749040"/>
            <a:ext cx="7909560" cy="868680"/>
          </a:xfrm>
          <a:prstGeom prst="rect">
            <a:avLst/>
          </a:prstGeom>
          <a:noFill/>
          <a:ln/>
        </p:spPr>
        <p:txBody>
          <a:bodyPr wrap="square" lIns="0" tIns="0" rIns="0" bIns="0" rtlCol="0" anchor="ctr"/>
          <a:lstStyle/>
          <a:p>
            <a:pPr indent="0" marL="0">
              <a:buNone/>
            </a:pPr>
            <a:r>
              <a:rPr lang="en-US" sz="1300" b="1" dirty="0">
                <a:solidFill>
                  <a:schemeClr val="tx1"/>
                </a:solidFill>
              </a:rPr>
              <a:t>Vérifié sur l'usage réel : </a:t>
            </a:r>
            <a:pPr indent="0" marL="0">
              <a:buNone/>
            </a:pPr>
            <a:r>
              <a:rPr lang="en-US" sz="1300" dirty="0">
                <a:solidFill>
                  <a:schemeClr val="tx1"/>
                </a:solidFill>
              </a:rPr>
              <a:t>en relevant les 1 512 stations Citiz toutes les 5 minutes, les sites les mieux notés par le modèle sont occupés 41 % du temps, contre 28 % pour les moins bien notés.</a:t>
            </a:r>
            <a:endParaRPr lang="en-US" sz="1300" dirty="0"/>
          </a:p>
        </p:txBody>
      </p:sp>
      <p:sp>
        <p:nvSpPr>
          <p:cNvPr id="25" name="Source"/>
          <p:cNvSpPr txBox="1"/>
          <p:nvPr/>
        </p:nvSpPr>
        <p:spPr>
          <a:xfrm>
            <a:off x="457200" y="4773168"/>
            <a:ext cx="7589520" cy="228600"/>
          </a:xfrm>
          <a:prstGeom prst="rect">
            <a:avLst/>
          </a:prstGeom>
          <a:noFill/>
          <a:ln/>
        </p:spPr>
        <p:txBody>
          <a:bodyPr wrap="square" lIns="0" tIns="0" rIns="0" bIns="0" rtlCol="0" anchor="ctr"/>
          <a:lstStyle/>
          <a:p>
            <a:pPr indent="0" marL="0">
              <a:buNone/>
            </a:pPr>
            <a:r>
              <a:rPr lang="en-US" sz="900" dirty="0">
                <a:solidFill>
                  <a:schemeClr val="accent5"/>
                </a:solidFill>
              </a:rPr>
              <a:t>Données : GTFS, GBFS, INSEE Filosofi 200 m, OpenStreetMap · Python (32 tests), application Streamlit, notebooks prêts pour Microsoft Fabric</a:t>
            </a:r>
            <a:endParaRPr lang="en-US" sz="9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640080" y="256032"/>
            <a:ext cx="7772400"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LA RECOMMANDATION · MÉTROPOLE DE LYON</a:t>
            </a:r>
            <a:endParaRPr lang="en-US" sz="1100" dirty="0"/>
          </a:p>
        </p:txBody>
      </p:sp>
      <p:sp>
        <p:nvSpPr>
          <p:cNvPr id="3" name="Text 1"/>
          <p:cNvSpPr/>
          <p:nvPr>
            <p:ph idx="102" type="title" hasCustomPrompt="1"/>
          </p:nvPr>
        </p:nvSpPr>
        <p:spPr>
          <a:xfrm>
            <a:off x="457200" y="566928"/>
            <a:ext cx="8229600" cy="685800"/>
          </a:xfrm>
          <a:prstGeom prst="rect">
            <a:avLst/>
          </a:prstGeom>
          <a:noFill/>
          <a:ln/>
        </p:spPr>
        <p:txBody>
          <a:bodyPr wrap="square" lIns="0" tIns="0" rIns="0" bIns="0" rtlCol="0" anchor="t"/>
          <a:lstStyle/>
          <a:p>
            <a:pPr algn="l" indent="0" marL="0">
              <a:buNone/>
            </a:pPr>
            <a:r>
              <a:rPr lang="en-US" sz="2600" b="1" dirty="0">
                <a:solidFill>
                  <a:schemeClr val="tx1"/>
                </a:solidFill>
              </a:rPr>
              <a:t>16 stations, 0,96 M€ sur 5 ans, 50 051 habitants gagnés</a:t>
            </a:r>
            <a:endParaRPr lang="en-US" sz="2600" dirty="0"/>
          </a:p>
        </p:txBody>
      </p:sp>
      <p:sp>
        <p:nvSpPr>
          <p:cNvPr id="4" name="Text 2"/>
          <p:cNvSpPr txBox="1"/>
          <p:nvPr/>
        </p:nvSpPr>
        <p:spPr>
          <a:xfrm>
            <a:off x="457200" y="1371600"/>
            <a:ext cx="1280160" cy="566928"/>
          </a:xfrm>
          <a:prstGeom prst="rect">
            <a:avLst/>
          </a:prstGeom>
          <a:noFill/>
          <a:ln/>
        </p:spPr>
        <p:txBody>
          <a:bodyPr wrap="square" lIns="0" tIns="0" rIns="0" bIns="0" rtlCol="0" anchor="ctr"/>
          <a:lstStyle/>
          <a:p>
            <a:pPr indent="0" marL="0">
              <a:buNone/>
            </a:pPr>
            <a:r>
              <a:rPr lang="en-US" sz="2400" b="1" dirty="0">
                <a:solidFill>
                  <a:schemeClr val="accent1"/>
                </a:solidFill>
              </a:rPr>
              <a:t>19 €</a:t>
            </a:r>
            <a:endParaRPr lang="en-US" sz="2400" dirty="0"/>
          </a:p>
        </p:txBody>
      </p:sp>
      <p:sp>
        <p:nvSpPr>
          <p:cNvPr id="5" name="Text 3"/>
          <p:cNvSpPr txBox="1"/>
          <p:nvPr/>
        </p:nvSpPr>
        <p:spPr>
          <a:xfrm>
            <a:off x="1783080" y="1371600"/>
            <a:ext cx="3017520" cy="566928"/>
          </a:xfrm>
          <a:prstGeom prst="rect">
            <a:avLst/>
          </a:prstGeom>
          <a:noFill/>
          <a:ln/>
        </p:spPr>
        <p:txBody>
          <a:bodyPr wrap="square" lIns="0" tIns="0" rIns="0" bIns="0" rtlCol="0" anchor="ctr"/>
          <a:lstStyle/>
          <a:p>
            <a:pPr indent="0" marL="0">
              <a:buNone/>
            </a:pPr>
            <a:r>
              <a:rPr lang="en-US" sz="1300" dirty="0">
                <a:solidFill>
                  <a:schemeClr val="tx1"/>
                </a:solidFill>
              </a:rPr>
              <a:t>par nouvel habitant desservi</a:t>
            </a:r>
            <a:endParaRPr lang="en-US" sz="1300" dirty="0"/>
          </a:p>
        </p:txBody>
      </p:sp>
      <p:sp>
        <p:nvSpPr>
          <p:cNvPr id="6" name="Text 4"/>
          <p:cNvSpPr txBox="1"/>
          <p:nvPr/>
        </p:nvSpPr>
        <p:spPr>
          <a:xfrm>
            <a:off x="457200" y="2029968"/>
            <a:ext cx="1280160" cy="566928"/>
          </a:xfrm>
          <a:prstGeom prst="rect">
            <a:avLst/>
          </a:prstGeom>
          <a:noFill/>
          <a:ln/>
        </p:spPr>
        <p:txBody>
          <a:bodyPr wrap="square" lIns="0" tIns="0" rIns="0" bIns="0" rtlCol="0" anchor="ctr"/>
          <a:lstStyle/>
          <a:p>
            <a:pPr indent="0" marL="0">
              <a:buNone/>
            </a:pPr>
            <a:r>
              <a:rPr lang="en-US" sz="2400" b="1" dirty="0">
                <a:solidFill>
                  <a:schemeClr val="accent1"/>
                </a:solidFill>
              </a:rPr>
              <a:t>121 t</a:t>
            </a:r>
            <a:endParaRPr lang="en-US" sz="2400" dirty="0"/>
          </a:p>
        </p:txBody>
      </p:sp>
      <p:sp>
        <p:nvSpPr>
          <p:cNvPr id="7" name="Text 5"/>
          <p:cNvSpPr txBox="1"/>
          <p:nvPr/>
        </p:nvSpPr>
        <p:spPr>
          <a:xfrm>
            <a:off x="1783080" y="2029968"/>
            <a:ext cx="3017520" cy="566928"/>
          </a:xfrm>
          <a:prstGeom prst="rect">
            <a:avLst/>
          </a:prstGeom>
          <a:noFill/>
          <a:ln/>
        </p:spPr>
        <p:txBody>
          <a:bodyPr wrap="square" lIns="0" tIns="0" rIns="0" bIns="0" rtlCol="0" anchor="ctr"/>
          <a:lstStyle/>
          <a:p>
            <a:pPr indent="0" marL="0">
              <a:buNone/>
            </a:pPr>
            <a:r>
              <a:rPr lang="en-US" sz="1300" dirty="0">
                <a:solidFill>
                  <a:schemeClr val="tx1"/>
                </a:solidFill>
              </a:rPr>
              <a:t>de CO2 évitées par an</a:t>
            </a:r>
            <a:endParaRPr lang="en-US" sz="1300" dirty="0"/>
          </a:p>
        </p:txBody>
      </p:sp>
      <p:sp>
        <p:nvSpPr>
          <p:cNvPr id="8" name="Text 6"/>
          <p:cNvSpPr txBox="1"/>
          <p:nvPr/>
        </p:nvSpPr>
        <p:spPr>
          <a:xfrm>
            <a:off x="457200" y="2688336"/>
            <a:ext cx="1280160" cy="566928"/>
          </a:xfrm>
          <a:prstGeom prst="rect">
            <a:avLst/>
          </a:prstGeom>
          <a:noFill/>
          <a:ln/>
        </p:spPr>
        <p:txBody>
          <a:bodyPr wrap="square" lIns="0" tIns="0" rIns="0" bIns="0" rtlCol="0" anchor="ctr"/>
          <a:lstStyle/>
          <a:p>
            <a:pPr indent="0" marL="0">
              <a:buNone/>
            </a:pPr>
            <a:r>
              <a:rPr lang="en-US" sz="2400" b="1" dirty="0">
                <a:solidFill>
                  <a:schemeClr val="accent1"/>
                </a:solidFill>
              </a:rPr>
              <a:t>41 %</a:t>
            </a:r>
            <a:endParaRPr lang="en-US" sz="2400" dirty="0"/>
          </a:p>
        </p:txBody>
      </p:sp>
      <p:sp>
        <p:nvSpPr>
          <p:cNvPr id="9" name="Text 7"/>
          <p:cNvSpPr txBox="1"/>
          <p:nvPr/>
        </p:nvSpPr>
        <p:spPr>
          <a:xfrm>
            <a:off x="1783080" y="2688336"/>
            <a:ext cx="3017520" cy="566928"/>
          </a:xfrm>
          <a:prstGeom prst="rect">
            <a:avLst/>
          </a:prstGeom>
          <a:noFill/>
          <a:ln/>
        </p:spPr>
        <p:txBody>
          <a:bodyPr wrap="square" lIns="0" tIns="0" rIns="0" bIns="0" rtlCol="0" anchor="ctr"/>
          <a:lstStyle/>
          <a:p>
            <a:pPr indent="0" marL="0">
              <a:buNone/>
            </a:pPr>
            <a:r>
              <a:rPr lang="en-US" sz="1300" dirty="0">
                <a:solidFill>
                  <a:schemeClr val="tx1"/>
                </a:solidFill>
              </a:rPr>
              <a:t>des nouveaux desservis parmi les 30 % les plus modestes</a:t>
            </a:r>
            <a:endParaRPr lang="en-US" sz="1300" dirty="0"/>
          </a:p>
        </p:txBody>
      </p:sp>
      <p:sp>
        <p:nvSpPr>
          <p:cNvPr id="10" name="Text 8"/>
          <p:cNvSpPr txBox="1"/>
          <p:nvPr/>
        </p:nvSpPr>
        <p:spPr>
          <a:xfrm>
            <a:off x="457200" y="3429000"/>
            <a:ext cx="4389120" cy="274320"/>
          </a:xfrm>
          <a:prstGeom prst="rect">
            <a:avLst/>
          </a:prstGeom>
          <a:noFill/>
          <a:ln/>
        </p:spPr>
        <p:txBody>
          <a:bodyPr wrap="square" lIns="0" tIns="0" rIns="0" bIns="0" rtlCol="0" anchor="t"/>
          <a:lstStyle/>
          <a:p>
            <a:pPr indent="0" marL="0">
              <a:buNone/>
            </a:pPr>
            <a:r>
              <a:rPr lang="en-US" sz="1400" b="1" dirty="0">
                <a:solidFill>
                  <a:schemeClr val="tx1"/>
                </a:solidFill>
              </a:rPr>
              <a:t>Ce que l'outil permet de décider</a:t>
            </a:r>
            <a:endParaRPr lang="en-US" sz="1400" dirty="0"/>
          </a:p>
        </p:txBody>
      </p:sp>
      <p:sp>
        <p:nvSpPr>
          <p:cNvPr id="11" name="Text 9"/>
          <p:cNvSpPr txBox="1"/>
          <p:nvPr/>
        </p:nvSpPr>
        <p:spPr>
          <a:xfrm>
            <a:off x="457200" y="3730752"/>
            <a:ext cx="4389120" cy="960120"/>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1"/>
                </a:solidFill>
              </a:rPr>
              <a:t>Ouvrir ces 16 stations en pilote, 1 à 2 voitures chacune</a:t>
            </a:r>
            <a:endParaRPr lang="en-US" sz="1300" dirty="0"/>
          </a:p>
          <a:p>
            <a:pPr marL="342900" indent="-342900">
              <a:spcAft>
                <a:spcPts val="200"/>
              </a:spcAft>
              <a:buSzPct val="100000"/>
              <a:buChar char="•"/>
            </a:pPr>
            <a:r>
              <a:rPr lang="en-US" sz="1300" dirty="0">
                <a:solidFill>
                  <a:schemeClr val="tx1"/>
                </a:solidFill>
              </a:rPr>
              <a:t>Renforcer d'abord les 303 stations saturées</a:t>
            </a:r>
            <a:endParaRPr lang="en-US" sz="1300" dirty="0"/>
          </a:p>
          <a:p>
            <a:pPr marL="342900" indent="-342900">
              <a:spcAft>
                <a:spcPts val="200"/>
              </a:spcAft>
              <a:buSzPct val="100000"/>
              <a:buChar char="•"/>
            </a:pPr>
            <a:r>
              <a:rPr lang="en-US" sz="1300" dirty="0">
                <a:solidFill>
                  <a:schemeClr val="tx1"/>
                </a:solidFill>
              </a:rPr>
              <a:t>Rejouer l'analyse sur tout territoire en quelques secondes</a:t>
            </a:r>
            <a:endParaRPr lang="en-US" sz="1300" dirty="0"/>
          </a:p>
        </p:txBody>
      </p:sp>
      <p:pic>
        <p:nvPicPr>
          <p:cNvPr id="12" name="Figure slides_map_top.png" descr="Carte des sites recommandés dans la Métropole de Lyon">    </p:cNvPr>
          <p:cNvPicPr>
            <a:picLocks noChangeAspect="1"/>
          </p:cNvPicPr>
          <p:nvPr/>
        </p:nvPicPr>
        <p:blipFill>
          <a:blip r:embed="rId1"/>
          <a:stretch>
            <a:fillRect/>
          </a:stretch>
        </p:blipFill>
        <p:spPr>
          <a:xfrm>
            <a:off x="5526815" y="1234440"/>
            <a:ext cx="2753810" cy="3474720"/>
          </a:xfrm>
          <a:prstGeom prst="rect">
            <a:avLst/>
          </a:prstGeom>
        </p:spPr>
      </p:pic>
      <p:sp>
        <p:nvSpPr>
          <p:cNvPr id="13" name="Source"/>
          <p:cNvSpPr txBox="1"/>
          <p:nvPr/>
        </p:nvSpPr>
        <p:spPr>
          <a:xfrm>
            <a:off x="457200" y="4773168"/>
            <a:ext cx="7589520" cy="228600"/>
          </a:xfrm>
          <a:prstGeom prst="rect">
            <a:avLst/>
          </a:prstGeom>
          <a:noFill/>
          <a:ln/>
        </p:spPr>
        <p:txBody>
          <a:bodyPr wrap="square" lIns="0" tIns="0" rIns="0" bIns="0" rtlCol="0" anchor="ctr"/>
          <a:lstStyle/>
          <a:p>
            <a:pPr indent="0" marL="0">
              <a:buNone/>
            </a:pPr>
            <a:r>
              <a:rPr lang="en-US" sz="900" dirty="0">
                <a:solidFill>
                  <a:schemeClr val="accent5"/>
                </a:solidFill>
              </a:rPr>
              <a:t>Source : outputs/recommendations_summary.json · liste séparée pour la collectivité : 12 stations vélo et 1 arrêt de bus, 38 089 habitants pour 1 M€</a:t>
            </a:r>
            <a:endParaRPr lang="en-US" sz="9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822960"/>
            <a:ext cx="4754880" cy="320040"/>
          </a:xfrm>
          <a:prstGeom prst="rect">
            <a:avLst/>
          </a:prstGeom>
          <a:noFill/>
          <a:ln/>
        </p:spPr>
        <p:txBody>
          <a:bodyPr wrap="square" lIns="0" tIns="0" rIns="0" bIns="0" rtlCol="0"/>
          <a:lstStyle/>
          <a:p>
            <a:pPr indent="0" marL="0">
              <a:buNone/>
            </a:pPr>
            <a:r>
              <a:rPr lang="en-US" sz="1200" b="1" spc="200" kern="0" dirty="0">
                <a:solidFill>
                  <a:schemeClr val="accent4"/>
                </a:solidFill>
              </a:rPr>
              <a:t>MOBILI'SCORE</a:t>
            </a:r>
            <a:endParaRPr lang="en-US" sz="1200" dirty="0"/>
          </a:p>
        </p:txBody>
      </p:sp>
      <p:sp>
        <p:nvSpPr>
          <p:cNvPr id="3" name="Text 0"/>
          <p:cNvSpPr/>
          <p:nvPr>
            <p:ph idx="101" type="title" hasCustomPrompt="1"/>
          </p:nvPr>
        </p:nvSpPr>
        <p:spPr>
          <a:xfrm>
            <a:off x="548640" y="1188720"/>
            <a:ext cx="4754880" cy="1005840"/>
          </a:xfrm>
          <a:prstGeom prst="rect">
            <a:avLst/>
          </a:prstGeom>
          <a:noFill/>
          <a:ln/>
        </p:spPr>
        <p:txBody>
          <a:bodyPr wrap="square" lIns="0" tIns="0" rIns="0" bIns="0" rtlCol="0" anchor="t"/>
          <a:lstStyle/>
          <a:p>
            <a:pPr algn="l" indent="0" marL="0">
              <a:buNone/>
            </a:pPr>
            <a:r>
              <a:rPr lang="en-US" sz="4800" b="1" dirty="0">
                <a:solidFill>
                  <a:schemeClr val="bg1"/>
                </a:solidFill>
              </a:rPr>
              <a:t>Démo live</a:t>
            </a:r>
            <a:endParaRPr lang="en-US" sz="4800" dirty="0"/>
          </a:p>
        </p:txBody>
      </p:sp>
      <p:sp>
        <p:nvSpPr>
          <p:cNvPr id="4" name="Text 0"/>
          <p:cNvSpPr/>
          <p:nvPr>
            <p:ph idx="102" type="body" hasCustomPrompt="1"/>
          </p:nvPr>
        </p:nvSpPr>
        <p:spPr>
          <a:xfrm>
            <a:off x="548640" y="2240280"/>
            <a:ext cx="4572000" cy="1188720"/>
          </a:xfrm>
          <a:prstGeom prst="rect">
            <a:avLst/>
          </a:prstGeom>
          <a:noFill/>
          <a:ln/>
        </p:spPr>
        <p:txBody>
          <a:bodyPr wrap="square" lIns="0" tIns="0" rIns="0" bIns="0" rtlCol="0" anchor="t"/>
          <a:lstStyle/>
          <a:p>
            <a:pPr indent="0" marL="0">
              <a:buNone/>
            </a:pPr>
            <a:r>
              <a:rPr lang="en-US" sz="1800" dirty="0">
                <a:solidFill>
                  <a:schemeClr val="bg1"/>
                </a:solidFill>
              </a:rPr>
              <a:t>Place à notre solution, en direct et sur données réelles.</a:t>
            </a:r>
            <a:endParaRPr lang="en-US" sz="1800" dirty="0"/>
          </a:p>
        </p:txBody>
      </p:sp>
    </p:spTree>
  </p:cSld>
  <p:clrMapOvr>
    <a:masterClrMapping/>
  </p:clrMapOvr>
</p:sld>
</file>

<file path=ppt/theme/theme1.xml><?xml version="1.0" encoding="utf-8"?>
<a:theme xmlns:a="http://schemas.openxmlformats.org/drawingml/2006/main" name="Mobili Score">
  <a:themeElements>
    <a:clrScheme name="Mobili Score">
      <a:dk1>
        <a:srgbClr val="1F2328"/>
      </a:dk1>
      <a:lt1>
        <a:srgbClr val="FFFFFF"/>
      </a:lt1>
      <a:dk2>
        <a:srgbClr val="14213D"/>
      </a:dk2>
      <a:lt2>
        <a:srgbClr val="FBFAF8"/>
      </a:lt2>
      <a:accent1>
        <a:srgbClr val="2B76D6"/>
      </a:accent1>
      <a:accent2>
        <a:srgbClr val="E8743B"/>
      </a:accent2>
      <a:accent3>
        <a:srgbClr val="1B4F99"/>
      </a:accent3>
      <a:accent4>
        <a:srgbClr val="EAF2FD"/>
      </a:accent4>
      <a:accent5>
        <a:srgbClr val="6B7280"/>
      </a:accent5>
      <a:accent6>
        <a:srgbClr val="FCE6DA"/>
      </a:accent6>
      <a:hlink>
        <a:srgbClr val="2B76D6"/>
      </a:hlink>
      <a:folHlink>
        <a:srgbClr val="1B4F99"/>
      </a:folHlink>
    </a:clrScheme>
    <a:fontScheme name="Mobili Scor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Mobili'Score – soutenance</dc:title>
  <dc:subject>Hackathon Mobility – Epitech, Citiz, Microsoft</dc:subject>
  <dc:creator>PptxGenJS</dc:creator>
  <cp:lastModifiedBy>PptxGenJS</cp:lastModifiedBy>
  <cp:revision>1</cp:revision>
  <dcterms:created xsi:type="dcterms:W3CDTF">2026-10-20T15:00:40Z</dcterms:created>
  <dcterms:modified xsi:type="dcterms:W3CDTF">2026-10-20T15:00:40Z</dcterms:modified>
</cp:coreProperties>
</file>